
<file path=[Content_Types].xml><?xml version="1.0" encoding="utf-8"?>
<Types xmlns="http://schemas.openxmlformats.org/package/2006/content-types">
  <Default ContentType="application/xml" Extension="xml"/>
  <Default ContentType="application/vnd.openxmlformats-officedocument.obfuscatedFont" Extension="odttf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  <Override ContentType="application/vnd.openxmlformats-officedocument.presentationml.viewProps+xml" PartName="/ppt/viewProps.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1620">
          <p15:clr>
            <a:srgbClr val="747775"/>
          </p15:clr>
        </p15:guide>
        <p15:guide id="2" pos="2880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1620" orient="horz"/>
        <p:guide pos="2880"/>
      </p:guideLst>
    </p:cSldViewPr>
  </p:slideViewPr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theme" Target="theme/theme2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9" Type="http://schemas.openxmlformats.org/officeDocument/2006/relationships/slide" Target="slides/slide4.xml"/><Relationship Id="rId10" Type="http://schemas.openxmlformats.org/officeDocument/2006/relationships/slide" Target="slides/slide5.xml"/><Relationship Id="rId11" Type="http://schemas.openxmlformats.org/officeDocument/2006/relationships/slide" Target="slides/slide6.xml"/><Relationship Id="rId12" Type="http://schemas.openxmlformats.org/officeDocument/2006/relationships/slide" Target="slides/slide7.xml"/><Relationship Id="rId13" Type="http://schemas.openxmlformats.org/officeDocument/2006/relationships/slide" Target="slides/slide8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2" name="Google Shape;52;p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ru"/>
              <a:t>заголовок</a:t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6" name="Shape 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" name="Google Shape;57;g3cbdce4d647_0_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8" name="Google Shape;58;g3cbdce4d647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7" name="Shape 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" name="Google Shape;68;g3cbdce4d647_0_29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9" name="Google Shape;69;g3cbdce4d647_0_29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6" name="Shape 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7" name="Google Shape;77;g3cbdce4d647_0_28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8" name="Google Shape;78;g3cbdce4d647_0_28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6" name="Shape 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7" name="Google Shape;87;g3cbdce4d647_0_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8" name="Google Shape;88;g3cbdce4d647_0_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3" name="Shape 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4" name="Google Shape;94;g1ce9b845277efdee_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5" name="Google Shape;95;g1ce9b845277efdee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g3cbdce4d647_0_3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2" name="Google Shape;102;g3cbdce4d647_0_3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g3cbdce4d647_0_32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13" name="Google Shape;113;g3cbdce4d647_0_32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g3cbdce4d647_0_28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9" name="Google Shape;129;g3cbdce4d647_0_28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ru"/>
              <a:t>заголовок</a:t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5" name="Google Shape;15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8" name="Google Shape;18;p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One column text">
  <p:cSld name="ONE_COLUMN_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04800" lvl="0" marL="4572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Main point">
  <p:cSld name="MAIN_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title and description">
  <p:cSld name="SECTION_TITLE_AND_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342900" lvl="0" marL="4572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aption">
  <p:cSld name="CAPTION_ONLY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228600" lvl="0" marL="4572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ig number">
  <p:cSld name="BIG_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hasCustomPrompt="1"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>
            <a:r>
              <a:t>xx%</a:t>
            </a:r>
          </a:p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algn="ctr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Char char="●"/>
              <a:defRPr sz="1800">
                <a:solidFill>
                  <a:schemeClr val="dk2"/>
                </a:solidFill>
              </a:defRPr>
            </a:lvl1pPr>
            <a:lvl2pPr indent="-317500" lvl="1" marL="914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2pPr>
            <a:lvl3pPr indent="-317500" lvl="2" marL="1371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3pPr>
            <a:lvl4pPr indent="-317500" lvl="3" marL="1828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4pPr>
            <a:lvl5pPr indent="-317500" lvl="4" marL="2286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5pPr>
            <a:lvl6pPr indent="-317500" lvl="5" marL="2743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6pPr>
            <a:lvl7pPr indent="-317500" lvl="6" marL="3200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7pPr>
            <a:lvl8pPr indent="-317500" lvl="7" marL="3657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8pPr>
            <a:lvl9pPr indent="-317500" lvl="8" marL="411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r">
              <a:buNone/>
              <a:defRPr sz="1000">
                <a:solidFill>
                  <a:schemeClr val="dk2"/>
                </a:solidFill>
              </a:defRPr>
            </a:lvl1pPr>
            <a:lvl2pPr lvl="1" algn="r">
              <a:buNone/>
              <a:defRPr sz="1000">
                <a:solidFill>
                  <a:schemeClr val="dk2"/>
                </a:solidFill>
              </a:defRPr>
            </a:lvl2pPr>
            <a:lvl3pPr lvl="2" algn="r">
              <a:buNone/>
              <a:defRPr sz="1000">
                <a:solidFill>
                  <a:schemeClr val="dk2"/>
                </a:solidFill>
              </a:defRPr>
            </a:lvl3pPr>
            <a:lvl4pPr lvl="3" algn="r">
              <a:buNone/>
              <a:defRPr sz="1000">
                <a:solidFill>
                  <a:schemeClr val="dk2"/>
                </a:solidFill>
              </a:defRPr>
            </a:lvl4pPr>
            <a:lvl5pPr lvl="4" algn="r">
              <a:buNone/>
              <a:defRPr sz="1000">
                <a:solidFill>
                  <a:schemeClr val="dk2"/>
                </a:solidFill>
              </a:defRPr>
            </a:lvl5pPr>
            <a:lvl6pPr lvl="5" algn="r">
              <a:buNone/>
              <a:defRPr sz="1000">
                <a:solidFill>
                  <a:schemeClr val="dk2"/>
                </a:solidFill>
              </a:defRPr>
            </a:lvl6pPr>
            <a:lvl7pPr lvl="6" algn="r">
              <a:buNone/>
              <a:defRPr sz="1000">
                <a:solidFill>
                  <a:schemeClr val="dk2"/>
                </a:solidFill>
              </a:defRPr>
            </a:lvl7pPr>
            <a:lvl8pPr lvl="7" algn="r">
              <a:buNone/>
              <a:defRPr sz="1000">
                <a:solidFill>
                  <a:schemeClr val="dk2"/>
                </a:solidFill>
              </a:defRPr>
            </a:lvl8pPr>
            <a:lvl9pPr lvl="8" algn="r">
              <a:buNone/>
              <a:defRPr sz="1000">
                <a:solidFill>
                  <a:schemeClr val="dk2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ru"/>
              <a:t>Цифровая трансформация банка</a:t>
            </a:r>
            <a:r>
              <a:rPr lang="ru"/>
              <a:t/>
            </a:r>
            <a:r>
              <a:rPr lang="ru"/>
              <a:t/>
            </a:r>
            <a:endParaRPr/>
          </a:p>
        </p:txBody>
      </p:sp>
      <p:sp>
        <p:nvSpPr>
          <p:cNvPr id="55" name="Google Shape;55;p13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18"/>
              <a:buFont typeface="Arial"/>
              <a:buNone/>
            </a:pPr>
            <a:r>
              <a:rPr lang="ru" sz="3709">
                <a:solidFill>
                  <a:schemeClr val="dk1"/>
                </a:solidFill>
              </a:rPr>
              <a:t>Стратегия развития на 2025–2027</a:t>
            </a:r>
            <a:endParaRPr sz="149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ru"/>
              <a:t>Ключевые цели программы</a:t>
            </a:r>
            <a:endParaRPr/>
          </a:p>
        </p:txBody>
      </p:sp>
      <p:sp>
        <p:nvSpPr>
          <p:cNvPr id="72" name="Google Shape;72;p15"/>
          <p:cNvSpPr txBox="1"/>
          <p:nvPr>
            <p:ph idx="1" type="body"/>
          </p:nvPr>
        </p:nvSpPr>
        <p:spPr>
          <a:xfrm>
            <a:off x="311700" y="1446825"/>
            <a:ext cx="4088100" cy="508200"/>
          </a:xfrm>
          <a:prstGeom prst="rect">
            <a:avLst/>
          </a:prstGeom>
          <a:ln cap="flat" cmpd="sng" w="1905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120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ru"/>
              <a:t>Повысить NPS с 41 до 65 к 2026 году</a:t>
            </a:r>
            <a:endParaRPr/>
          </a:p>
        </p:txBody>
      </p:sp>
      <p:sp>
        <p:nvSpPr>
          <p:cNvPr id="73" name="Google Shape;73;p15"/>
          <p:cNvSpPr txBox="1"/>
          <p:nvPr>
            <p:ph idx="1" type="body"/>
          </p:nvPr>
        </p:nvSpPr>
        <p:spPr>
          <a:xfrm>
            <a:off x="311700" y="2625613"/>
            <a:ext cx="4088100" cy="508200"/>
          </a:xfrm>
          <a:prstGeom prst="rect">
            <a:avLst/>
          </a:prstGeom>
          <a:ln cap="flat" cmpd="sng" w="1905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120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ru"/>
              <a:t>Запустить новое мобильное приложение в Q3 2025</a:t>
            </a:r>
            <a:endParaRPr/>
          </a:p>
        </p:txBody>
      </p:sp>
      <p:sp>
        <p:nvSpPr>
          <p:cNvPr id="74" name="Google Shape;74;p15"/>
          <p:cNvSpPr txBox="1"/>
          <p:nvPr>
            <p:ph idx="1" type="body"/>
          </p:nvPr>
        </p:nvSpPr>
        <p:spPr>
          <a:xfrm>
            <a:off x="4701300" y="1446825"/>
            <a:ext cx="4088100" cy="508200"/>
          </a:xfrm>
          <a:prstGeom prst="rect">
            <a:avLst/>
          </a:prstGeom>
          <a:ln cap="flat" cmpd="sng" w="1905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120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ru"/>
              <a:t>Сократить время онбординга до 5 минут</a:t>
            </a:r>
            <a:endParaRPr/>
          </a:p>
        </p:txBody>
      </p:sp>
      <p:sp>
        <p:nvSpPr>
          <p:cNvPr id="75" name="Google Shape;75;p15"/>
          <p:cNvSpPr txBox="1"/>
          <p:nvPr>
            <p:ph idx="1" type="body"/>
          </p:nvPr>
        </p:nvSpPr>
        <p:spPr>
          <a:xfrm>
            <a:off x="4701300" y="2625613"/>
            <a:ext cx="4088100" cy="508200"/>
          </a:xfrm>
          <a:prstGeom prst="rect">
            <a:avLst/>
          </a:prstGeom>
          <a:ln cap="flat" cmpd="sng" w="1905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120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ru"/>
              <a:t>Перевести 80% операций в цифровой канал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9" name="Shape 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" name="Google Shape;80;p1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ru"/>
              <a:t>Сильные стороны и зоны роста</a:t>
            </a:r>
            <a:endParaRPr/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ru"/>
              <a:t> </a:t>
            </a:r>
            <a:endParaRPr/>
          </a:p>
        </p:txBody>
      </p:sp>
      <p:sp>
        <p:nvSpPr>
          <p:cNvPr id="81" name="Google Shape;81;p16"/>
          <p:cNvSpPr txBox="1"/>
          <p:nvPr>
            <p:ph idx="1" type="body"/>
          </p:nvPr>
        </p:nvSpPr>
        <p:spPr>
          <a:xfrm>
            <a:off x="226475" y="1859600"/>
            <a:ext cx="4033800" cy="2753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algn="l" marL="342900" indent="-342900">
              <a:buChar char="•"/>
            </a:pPr>
            <a:r>
              <a:rPr lang="ru"/>
              <a:t>Развитая региональная сеть (340 отделений)</a:t>
            </a:r>
          </a:p>
          <a:p>
            <a:pPr algn="l" marL="342900" indent="-342900">
              <a:buChar char="•"/>
            </a:pPr>
            <a:r>
              <a:rPr lang="ru"/>
              <a:t>Высокий уровень доверия клиентов (NPS 62)</a:t>
            </a:r>
          </a:p>
          <a:p>
            <a:pPr algn="l" marL="342900" indent="-342900">
              <a:buChar char="•"/>
            </a:pPr>
            <a:r>
              <a:rPr lang="ru"/>
              <a:t>Лицензии и регуляторный опыт</a:t>
            </a:r>
          </a:p>
        </p:txBody>
      </p:sp>
      <p:sp>
        <p:nvSpPr>
          <p:cNvPr id="82" name="Google Shape;82;p16"/>
          <p:cNvSpPr txBox="1"/>
          <p:nvPr/>
        </p:nvSpPr>
        <p:spPr>
          <a:xfrm>
            <a:off x="226475" y="1207813"/>
            <a:ext cx="1954800" cy="461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ru" sz="1800">
                <a:solidFill>
                  <a:schemeClr val="dk2"/>
                </a:solidFill>
              </a:rPr>
              <a:t>Сильные стороны</a:t>
            </a:r>
            <a:endParaRPr sz="1800">
              <a:solidFill>
                <a:schemeClr val="dk2"/>
              </a:solidFill>
            </a:endParaRPr>
          </a:p>
        </p:txBody>
      </p:sp>
      <p:sp>
        <p:nvSpPr>
          <p:cNvPr id="83" name="Google Shape;83;p16"/>
          <p:cNvSpPr/>
          <p:nvPr/>
        </p:nvSpPr>
        <p:spPr>
          <a:xfrm>
            <a:off x="4260300" y="1102225"/>
            <a:ext cx="4883700" cy="4102500"/>
          </a:xfrm>
          <a:prstGeom prst="rect">
            <a:avLst/>
          </a:prstGeom>
          <a:solidFill>
            <a:schemeClr val="dk1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84" name="Google Shape;84;p16"/>
          <p:cNvSpPr txBox="1"/>
          <p:nvPr>
            <p:ph idx="1" type="body"/>
          </p:nvPr>
        </p:nvSpPr>
        <p:spPr>
          <a:xfrm>
            <a:off x="4462800" y="1859600"/>
            <a:ext cx="4204500" cy="2753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algn="l" marL="342900" indent="-342900">
              <a:buAutoNum type="arabicPeriod"/>
            </a:pPr>
            <a:r>
              <a:rPr lang="ru">
                <a:solidFill>
                  <a:schemeClr val="lt1"/>
                </a:solidFill>
              </a:rPr>
              <a:t>UX мобильного приложения — устарел на 3 года</a:t>
            </a:r>
          </a:p>
          <a:p>
            <a:pPr algn="l" marL="342900" indent="-342900">
              <a:buAutoNum type="arabicPeriod"/>
            </a:pPr>
            <a:r>
              <a:rPr lang="ru">
                <a:solidFill>
                  <a:schemeClr val="lt1"/>
                </a:solidFill>
              </a:rPr>
              <a:t>Скорость онбординга: 5 дней vs 15 минут у конкурентов</a:t>
            </a:r>
          </a:p>
          <a:p>
            <a:pPr algn="l" marL="342900" indent="-342900">
              <a:buAutoNum type="arabicPeriod"/>
            </a:pPr>
            <a:r>
              <a:rPr lang="ru">
                <a:solidFill>
                  <a:schemeClr val="lt1"/>
                </a:solidFill>
              </a:rPr>
              <a:t>Персонализация продуктового предложения</a:t>
            </a:r>
          </a:p>
        </p:txBody>
      </p:sp>
      <p:sp>
        <p:nvSpPr>
          <p:cNvPr id="85" name="Google Shape;85;p16"/>
          <p:cNvSpPr txBox="1"/>
          <p:nvPr/>
        </p:nvSpPr>
        <p:spPr>
          <a:xfrm>
            <a:off x="4462800" y="1302000"/>
            <a:ext cx="1954800" cy="461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ru" sz="1800">
                <a:solidFill>
                  <a:schemeClr val="lt1"/>
                </a:solidFill>
              </a:rPr>
              <a:t>Зоны роста</a:t>
            </a:r>
            <a:endParaRPr sz="1800">
              <a:solidFill>
                <a:schemeClr val="lt1"/>
              </a:solidFill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9" name="Shape 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" name="Google Shape;80;p1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ru"/>
              <a:t>До и после трансформации</a:t>
            </a:r>
            <a:endParaRPr/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ru"/>
              <a:t> </a:t>
            </a:r>
            <a:endParaRPr/>
          </a:p>
        </p:txBody>
      </p:sp>
      <p:sp>
        <p:nvSpPr>
          <p:cNvPr id="81" name="Google Shape;81;p16"/>
          <p:cNvSpPr txBox="1"/>
          <p:nvPr>
            <p:ph idx="1" type="body"/>
          </p:nvPr>
        </p:nvSpPr>
        <p:spPr>
          <a:xfrm>
            <a:off x="226475" y="1859600"/>
            <a:ext cx="4033800" cy="2753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algn="l">
              <a:buNone/>
            </a:pPr>
            <a:r>
              <a:rPr lang="ru"/>
              <a:t>Текущие показатели процессов:</a:t>
            </a:r>
          </a:p>
          <a:p>
            <a:pPr algn="l" marL="342900" indent="-342900">
              <a:buChar char="•"/>
            </a:pPr>
            <a:r>
              <a:rPr lang="ru"/>
              <a:t>Среднее время заявки: 5 рабочих дней</a:t>
            </a:r>
          </a:p>
          <a:p>
            <a:pPr algn="l" marL="342900" indent="-342900">
              <a:buChar char="•"/>
            </a:pPr>
            <a:r>
              <a:rPr lang="ru"/>
              <a:t>12 шагов в процессе онбординга</a:t>
            </a:r>
          </a:p>
          <a:p>
            <a:pPr algn="l" marL="342900" indent="-342900">
              <a:buChar char="•"/>
            </a:pPr>
            <a:r>
              <a:rPr lang="ru"/>
              <a:t>Только офисное обслуживание</a:t>
            </a:r>
          </a:p>
        </p:txBody>
      </p:sp>
      <p:sp>
        <p:nvSpPr>
          <p:cNvPr id="82" name="Google Shape;82;p16"/>
          <p:cNvSpPr txBox="1"/>
          <p:nvPr/>
        </p:nvSpPr>
        <p:spPr>
          <a:xfrm>
            <a:off x="226475" y="1207813"/>
            <a:ext cx="1954800" cy="461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ru" sz="1800">
                <a:solidFill>
                  <a:schemeClr val="dk2"/>
                </a:solidFill>
              </a:rPr>
              <a:t>Сейчас</a:t>
            </a:r>
            <a:endParaRPr sz="1800">
              <a:solidFill>
                <a:schemeClr val="dk2"/>
              </a:solidFill>
            </a:endParaRPr>
          </a:p>
        </p:txBody>
      </p:sp>
      <p:sp>
        <p:nvSpPr>
          <p:cNvPr id="83" name="Google Shape;83;p16"/>
          <p:cNvSpPr/>
          <p:nvPr/>
        </p:nvSpPr>
        <p:spPr>
          <a:xfrm>
            <a:off x="4260300" y="1102225"/>
            <a:ext cx="4883700" cy="4102500"/>
          </a:xfrm>
          <a:prstGeom prst="rect">
            <a:avLst/>
          </a:prstGeom>
          <a:solidFill>
            <a:schemeClr val="dk1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84" name="Google Shape;84;p16"/>
          <p:cNvSpPr txBox="1"/>
          <p:nvPr>
            <p:ph idx="1" type="body"/>
          </p:nvPr>
        </p:nvSpPr>
        <p:spPr>
          <a:xfrm>
            <a:off x="4462800" y="1859600"/>
            <a:ext cx="4204500" cy="2753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algn="l">
              <a:buNone/>
            </a:pPr>
            <a:r>
              <a:rPr lang="ru">
                <a:solidFill>
                  <a:schemeClr val="lt1"/>
                </a:solidFill>
              </a:rPr>
              <a:t>Целевые показатели:</a:t>
            </a:r>
          </a:p>
          <a:p>
            <a:pPr algn="l" marL="342900" indent="-342900">
              <a:buChar char="•"/>
            </a:pPr>
            <a:r>
              <a:rPr lang="ru">
                <a:solidFill>
                  <a:schemeClr val="lt1"/>
                </a:solidFill>
              </a:rPr>
              <a:t>Среднее время заявки: 15 минут</a:t>
            </a:r>
          </a:p>
          <a:p>
            <a:pPr algn="l" marL="342900" indent="-342900">
              <a:buChar char="•"/>
            </a:pPr>
            <a:r>
              <a:rPr lang="ru">
                <a:solidFill>
                  <a:schemeClr val="lt1"/>
                </a:solidFill>
              </a:rPr>
              <a:t>3 шага до открытия счёта</a:t>
            </a:r>
          </a:p>
          <a:p>
            <a:pPr algn="l" marL="342900" indent="-342900">
              <a:buChar char="•"/>
            </a:pPr>
            <a:r>
              <a:rPr lang="ru">
                <a:solidFill>
                  <a:schemeClr val="lt1"/>
                </a:solidFill>
              </a:rPr>
              <a:t>100% дистанционно</a:t>
            </a:r>
          </a:p>
        </p:txBody>
      </p:sp>
      <p:sp>
        <p:nvSpPr>
          <p:cNvPr id="85" name="Google Shape;85;p16"/>
          <p:cNvSpPr txBox="1"/>
          <p:nvPr/>
        </p:nvSpPr>
        <p:spPr>
          <a:xfrm>
            <a:off x="4462800" y="1302000"/>
            <a:ext cx="1954800" cy="461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ru" sz="1800">
                <a:solidFill>
                  <a:schemeClr val="lt1"/>
                </a:solidFill>
              </a:rPr>
              <a:t>После</a:t>
            </a:r>
            <a:endParaRPr sz="1800">
              <a:solidFill>
                <a:schemeClr val="lt1"/>
              </a:solidFill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14"/>
          <p:cNvSpPr txBox="1"/>
          <p:nvPr>
            <p:ph type="title"/>
          </p:nvPr>
        </p:nvSpPr>
        <p:spPr>
          <a:xfrm>
            <a:off x="311700" y="473500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ru"/>
              <a:t>Почему сейчас?</a:t>
            </a:r>
            <a:endParaRPr/>
          </a:p>
        </p:txBody>
      </p:sp>
      <p:sp>
        <p:nvSpPr>
          <p:cNvPr id="61" name="Google Shape;61;p14"/>
          <p:cNvSpPr txBox="1"/>
          <p:nvPr>
            <p:ph idx="1" type="body"/>
          </p:nvPr>
        </p:nvSpPr>
        <p:spPr>
          <a:xfrm>
            <a:off x="311700" y="1446825"/>
            <a:ext cx="4088100" cy="508200"/>
          </a:xfrm>
          <a:prstGeom prst="rect">
            <a:avLst/>
          </a:prstGeom>
          <a:ln cap="flat" cmpd="sng" w="1905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1200"/>
              </a:spcAft>
              <a:buNone/>
            </a:pPr>
            <a:r>
              <a:rPr lang="ru"/>
              <a:t>Рынок цифрового банкинга: +41% за 2 года</a:t>
            </a:r>
            <a:endParaRPr/>
          </a:p>
        </p:txBody>
      </p:sp>
      <p:sp>
        <p:nvSpPr>
          <p:cNvPr id="62" name="Google Shape;62;p14"/>
          <p:cNvSpPr txBox="1"/>
          <p:nvPr>
            <p:ph idx="1" type="body"/>
          </p:nvPr>
        </p:nvSpPr>
        <p:spPr>
          <a:xfrm>
            <a:off x="311700" y="2625613"/>
            <a:ext cx="4088100" cy="508200"/>
          </a:xfrm>
          <a:prstGeom prst="rect">
            <a:avLst/>
          </a:prstGeom>
          <a:ln cap="flat" cmpd="sng" w="1905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1200"/>
              </a:spcAft>
              <a:buNone/>
            </a:pPr>
            <a:r>
              <a:rPr lang="ru"/>
              <a:t>Проникновение мобильного банка достигло 67%</a:t>
            </a:r>
            <a:endParaRPr/>
          </a:p>
        </p:txBody>
      </p:sp>
      <p:sp>
        <p:nvSpPr>
          <p:cNvPr id="63" name="Google Shape;63;p14"/>
          <p:cNvSpPr txBox="1"/>
          <p:nvPr>
            <p:ph idx="1" type="body"/>
          </p:nvPr>
        </p:nvSpPr>
        <p:spPr>
          <a:xfrm>
            <a:off x="311700" y="3804400"/>
            <a:ext cx="4088100" cy="508200"/>
          </a:xfrm>
          <a:prstGeom prst="rect">
            <a:avLst/>
          </a:prstGeom>
          <a:ln cap="flat" cmpd="sng" w="1905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1200"/>
              </a:spcAft>
              <a:buNone/>
            </a:pPr>
            <a:r>
              <a:rPr lang="ru"/>
              <a:t>Необанки забирают 28% новых клиентов</a:t>
            </a:r>
            <a:endParaRPr/>
          </a:p>
        </p:txBody>
      </p:sp>
      <p:sp>
        <p:nvSpPr>
          <p:cNvPr id="64" name="Google Shape;64;p14"/>
          <p:cNvSpPr txBox="1"/>
          <p:nvPr>
            <p:ph idx="1" type="body"/>
          </p:nvPr>
        </p:nvSpPr>
        <p:spPr>
          <a:xfrm>
            <a:off x="4709050" y="1446838"/>
            <a:ext cx="4088100" cy="508200"/>
          </a:xfrm>
          <a:prstGeom prst="rect">
            <a:avLst/>
          </a:prstGeom>
          <a:ln cap="flat" cmpd="sng" w="1905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1200"/>
              </a:spcAft>
              <a:buNone/>
            </a:pPr>
            <a:r>
              <a:rPr lang="ru"/>
              <a:t>NPS цифровых банков выше на 18 пунктов</a:t>
            </a:r>
            <a:endParaRPr/>
          </a:p>
        </p:txBody>
      </p:sp>
      <p:sp>
        <p:nvSpPr>
          <p:cNvPr id="65" name="Google Shape;65;p14"/>
          <p:cNvSpPr txBox="1"/>
          <p:nvPr>
            <p:ph idx="1" type="body"/>
          </p:nvPr>
        </p:nvSpPr>
        <p:spPr>
          <a:xfrm>
            <a:off x="4709050" y="2625625"/>
            <a:ext cx="4088100" cy="508200"/>
          </a:xfrm>
          <a:prstGeom prst="rect">
            <a:avLst/>
          </a:prstGeom>
          <a:ln cap="flat" cmpd="sng" w="1905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120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ru"/>
              <a:t>Регулятор стимулирует Open Banking</a:t>
            </a:r>
            <a:endParaRPr/>
          </a:p>
        </p:txBody>
      </p:sp>
      <p:sp>
        <p:nvSpPr>
          <p:cNvPr id="66" name="Google Shape;66;p14"/>
          <p:cNvSpPr txBox="1"/>
          <p:nvPr>
            <p:ph idx="1" type="body"/>
          </p:nvPr>
        </p:nvSpPr>
        <p:spPr>
          <a:xfrm>
            <a:off x="4709050" y="3804413"/>
            <a:ext cx="4088100" cy="508200"/>
          </a:xfrm>
          <a:prstGeom prst="rect">
            <a:avLst/>
          </a:prstGeom>
          <a:ln cap="flat" cmpd="sng" w="1905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120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ru"/>
              <a:t>Конкуренты уже запустили цифровую трансформацию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9" name="Shape 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" name="Google Shape;90;p17"/>
          <p:cNvSpPr txBox="1"/>
          <p:nvPr>
            <p:ph type="title"/>
          </p:nvPr>
        </p:nvSpPr>
        <p:spPr>
          <a:xfrm>
            <a:off x="-1373950" y="164075"/>
            <a:ext cx="64257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39285"/>
              <a:buFont typeface="Arial"/>
              <a:buNone/>
            </a:pPr>
            <a:r>
              <a:rPr lang="ru"/>
              <a:t>Наш подход к трансформации</a:t>
            </a:r>
            <a:endParaRPr/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39285"/>
              <a:buFont typeface="Arial"/>
              <a:buNone/>
            </a:pPr>
            <a:r>
              <a:rPr lang="ru"/>
              <a:t> 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1" name="Google Shape;91;p17"/>
          <p:cNvSpPr txBox="1"/>
          <p:nvPr>
            <p:ph idx="1" type="body"/>
          </p:nvPr>
        </p:nvSpPr>
        <p:spPr>
          <a:xfrm>
            <a:off x="311700" y="957975"/>
            <a:ext cx="43128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algn="l">
              <a:buNone/>
            </a:pPr>
            <a:r>
              <a:rPr lang="ru"/>
              <a:t>Программа реализуется в 3 этапа:</a:t>
            </a:r>
          </a:p>
          <a:p>
            <a:pPr algn="l" marL="342900" indent="-342900">
              <a:buAutoNum type="arabicPeriod"/>
            </a:pPr>
            <a:r>
              <a:rPr lang="ru"/>
              <a:t>Диагностика и проектирование (Q1–Q2 2025)</a:t>
            </a:r>
          </a:p>
          <a:p>
            <a:pPr algn="l" marL="342900" indent="-342900">
              <a:buAutoNum type="arabicPeriod"/>
            </a:pPr>
            <a:r>
              <a:rPr lang="ru"/>
              <a:t>Разработка и пилот (Q3 2025 – Q1 2026)</a:t>
            </a:r>
          </a:p>
          <a:p>
            <a:pPr algn="l" marL="342900" indent="-342900">
              <a:buAutoNum type="arabicPeriod"/>
            </a:pPr>
            <a:r>
              <a:rPr lang="ru"/>
              <a:t>Масштабирование (Q2–Q4 2026)</a:t>
            </a:r>
          </a:p>
          <a:p>
            <a:pPr indent="0" lvl="0" marL="0" rtl="0" algn="l">
              <a:spcBef>
                <a:spcPts val="1200"/>
              </a:spcBef>
              <a:spcAft>
                <a:spcPts val="1200"/>
              </a:spcAft>
              <a:buNone/>
            </a:pPr>
            <a:r>
              <a:t/>
            </a:r>
            <a:endParaRPr/>
          </a:p>
        </p:txBody>
      </p:sp>
      <p:sp>
        <p:nvSpPr>
          <p:cNvPr id="92" name="Google Shape;92;p17"/>
          <p:cNvSpPr/>
          <p:nvPr/>
        </p:nvSpPr>
        <p:spPr>
          <a:xfrm>
            <a:off x="4624500" y="0"/>
            <a:ext cx="4535100" cy="5143500"/>
          </a:xfrm>
          <a:prstGeom prst="rect">
            <a:avLst/>
          </a:prstGeom>
          <a:solidFill>
            <a:srgbClr val="00FF00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20"/>
          <p:cNvSpPr txBox="1"/>
          <p:nvPr>
            <p:ph type="title"/>
          </p:nvPr>
        </p:nvSpPr>
        <p:spPr>
          <a:xfrm>
            <a:off x="246875" y="17127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ru"/>
              <a:t>Дорожная карта 2025–2026 </a:t>
            </a:r>
            <a:endParaRPr/>
          </a:p>
        </p:txBody>
      </p:sp>
      <p:cxnSp>
        <p:nvCxnSpPr>
          <p:cNvPr id="116" name="Google Shape;116;p20"/>
          <p:cNvCxnSpPr/>
          <p:nvPr/>
        </p:nvCxnSpPr>
        <p:spPr>
          <a:xfrm>
            <a:off x="302125" y="2783925"/>
            <a:ext cx="8497500" cy="0"/>
          </a:xfrm>
          <a:prstGeom prst="straightConnector1">
            <a:avLst/>
          </a:prstGeom>
          <a:noFill/>
          <a:ln cap="flat" cmpd="sng" w="9525">
            <a:solidFill>
              <a:schemeClr val="dk2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117" name="Google Shape;117;p20"/>
          <p:cNvCxnSpPr/>
          <p:nvPr/>
        </p:nvCxnSpPr>
        <p:spPr>
          <a:xfrm>
            <a:off x="1123225" y="2776175"/>
            <a:ext cx="0" cy="1433100"/>
          </a:xfrm>
          <a:prstGeom prst="straightConnector1">
            <a:avLst/>
          </a:prstGeom>
          <a:noFill/>
          <a:ln cap="flat" cmpd="sng" w="9525">
            <a:solidFill>
              <a:schemeClr val="dk2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118" name="Google Shape;118;p20"/>
          <p:cNvCxnSpPr/>
          <p:nvPr/>
        </p:nvCxnSpPr>
        <p:spPr>
          <a:xfrm rot="10800000">
            <a:off x="2990050" y="1312025"/>
            <a:ext cx="0" cy="1487400"/>
          </a:xfrm>
          <a:prstGeom prst="straightConnector1">
            <a:avLst/>
          </a:prstGeom>
          <a:noFill/>
          <a:ln cap="flat" cmpd="sng" w="9525">
            <a:solidFill>
              <a:schemeClr val="dk2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119" name="Google Shape;119;p20"/>
          <p:cNvCxnSpPr/>
          <p:nvPr/>
        </p:nvCxnSpPr>
        <p:spPr>
          <a:xfrm>
            <a:off x="4732975" y="2799425"/>
            <a:ext cx="0" cy="1417500"/>
          </a:xfrm>
          <a:prstGeom prst="straightConnector1">
            <a:avLst/>
          </a:prstGeom>
          <a:noFill/>
          <a:ln cap="flat" cmpd="sng" w="9525">
            <a:solidFill>
              <a:schemeClr val="dk2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120" name="Google Shape;120;p20"/>
          <p:cNvCxnSpPr/>
          <p:nvPr/>
        </p:nvCxnSpPr>
        <p:spPr>
          <a:xfrm rot="10800000">
            <a:off x="6553325" y="1312075"/>
            <a:ext cx="0" cy="1479600"/>
          </a:xfrm>
          <a:prstGeom prst="straightConnector1">
            <a:avLst/>
          </a:prstGeom>
          <a:noFill/>
          <a:ln cap="flat" cmpd="sng" w="9525">
            <a:solidFill>
              <a:schemeClr val="dk2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121" name="Google Shape;121;p20"/>
          <p:cNvCxnSpPr/>
          <p:nvPr/>
        </p:nvCxnSpPr>
        <p:spPr>
          <a:xfrm>
            <a:off x="7947650" y="2760725"/>
            <a:ext cx="0" cy="1494900"/>
          </a:xfrm>
          <a:prstGeom prst="straightConnector1">
            <a:avLst/>
          </a:prstGeom>
          <a:noFill/>
          <a:ln cap="flat" cmpd="sng" w="9525">
            <a:solidFill>
              <a:schemeClr val="dk2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122" name="Google Shape;122;p20"/>
          <p:cNvSpPr txBox="1"/>
          <p:nvPr/>
        </p:nvSpPr>
        <p:spPr>
          <a:xfrm>
            <a:off x="556850" y="4341450"/>
            <a:ext cx="1787100" cy="461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ru" sz="1800">
                <a:solidFill>
                  <a:schemeClr val="dk2"/>
                </a:solidFill>
              </a:rPr>
              <a:t>Q1 2025: Диагностика</a:t>
            </a:r>
            <a:endParaRPr sz="1800">
              <a:solidFill>
                <a:schemeClr val="dk2"/>
              </a:solidFill>
            </a:endParaRPr>
          </a:p>
        </p:txBody>
      </p:sp>
      <p:sp>
        <p:nvSpPr>
          <p:cNvPr id="123" name="Google Shape;123;p20"/>
          <p:cNvSpPr txBox="1"/>
          <p:nvPr/>
        </p:nvSpPr>
        <p:spPr>
          <a:xfrm>
            <a:off x="2128400" y="797150"/>
            <a:ext cx="1787100" cy="461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ru" sz="1800">
                <a:solidFill>
                  <a:schemeClr val="dk2"/>
                </a:solidFill>
              </a:rPr>
              <a:t>Q2 2025: Проектирование</a:t>
            </a:r>
            <a:endParaRPr sz="1800">
              <a:solidFill>
                <a:schemeClr val="dk2"/>
              </a:solidFill>
            </a:endParaRPr>
          </a:p>
        </p:txBody>
      </p:sp>
      <p:sp>
        <p:nvSpPr>
          <p:cNvPr id="124" name="Google Shape;124;p20"/>
          <p:cNvSpPr txBox="1"/>
          <p:nvPr/>
        </p:nvSpPr>
        <p:spPr>
          <a:xfrm>
            <a:off x="3915500" y="4379700"/>
            <a:ext cx="1787100" cy="461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ru" sz="1800">
                <a:solidFill>
                  <a:schemeClr val="dk2"/>
                </a:solidFill>
              </a:rPr>
              <a:t>Q3 2025: MVP приложения</a:t>
            </a:r>
            <a:endParaRPr sz="1800">
              <a:solidFill>
                <a:schemeClr val="dk2"/>
              </a:solidFill>
            </a:endParaRPr>
          </a:p>
        </p:txBody>
      </p:sp>
      <p:sp>
        <p:nvSpPr>
          <p:cNvPr id="125" name="Google Shape;125;p20"/>
          <p:cNvSpPr txBox="1"/>
          <p:nvPr/>
        </p:nvSpPr>
        <p:spPr>
          <a:xfrm>
            <a:off x="5609500" y="797175"/>
            <a:ext cx="1787100" cy="461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ru" sz="1800">
                <a:solidFill>
                  <a:schemeClr val="dk2"/>
                </a:solidFill>
              </a:rPr>
              <a:t>Q1 2026: Пилот</a:t>
            </a:r>
            <a:endParaRPr sz="1800">
              <a:solidFill>
                <a:schemeClr val="dk2"/>
              </a:solidFill>
            </a:endParaRPr>
          </a:p>
        </p:txBody>
      </p:sp>
      <p:sp>
        <p:nvSpPr>
          <p:cNvPr id="126" name="Google Shape;126;p20"/>
          <p:cNvSpPr txBox="1"/>
          <p:nvPr/>
        </p:nvSpPr>
        <p:spPr>
          <a:xfrm>
            <a:off x="7054100" y="4379700"/>
            <a:ext cx="1787100" cy="461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ru" sz="1800">
                <a:solidFill>
                  <a:schemeClr val="dk2"/>
                </a:solidFill>
              </a:rPr>
              <a:t>Q3 2026: Масштабирование</a:t>
            </a:r>
            <a:endParaRPr sz="1800">
              <a:solidFill>
                <a:schemeClr val="dk2"/>
              </a:solidFill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21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ru"/>
              <a:t>Спасибо за внимание </a:t>
            </a:r>
            <a:endParaRPr/>
          </a:p>
        </p:txBody>
      </p:sp>
      <p:sp>
        <p:nvSpPr>
          <p:cNvPr id="132" name="Google Shape;132;p21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" sz="3709">
                <a:solidFill>
                  <a:schemeClr val="dk1"/>
                </a:solidFill>
              </a:rPr>
              <a:t>Готовы ответить на вопросы</a:t>
            </a:r>
            <a:endParaRPr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