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20"/>
    <p:sldId id="257" r:id="rId21"/>
    <p:sldId id="258" r:id="rId22"/>
    <p:sldId id="259" r:id="rId23"/>
    <p:sldId id="260" r:id="rId24"/>
  </p:sldIdLst>
  <p:sldSz cy="5143500" cx="9144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gaagfe7Uax7n8gieH0gy4n+D1X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5" Type="http://schemas.openxmlformats.org/officeDocument/2006/relationships/font" Target="fonts/Inter-regular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18" Type="http://schemas.openxmlformats.org/officeDocument/2006/relationships/font" Target="fonts/Inter-boldItalic.fntdata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заголовок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/>
              <a:t>заголовок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/>
          <p:nvPr>
            <p:ph idx="2" type="pic"/>
          </p:nvPr>
        </p:nvSpPr>
        <p:spPr>
          <a:xfrm>
            <a:off x="4568025" y="503988"/>
            <a:ext cx="4065600" cy="4135200"/>
          </a:xfrm>
          <a:prstGeom prst="rect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w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/>
          <p:nvPr>
            <p:ph idx="2" type="pic"/>
          </p:nvPr>
        </p:nvSpPr>
        <p:spPr>
          <a:xfrm>
            <a:off x="504600" y="503400"/>
            <a:ext cx="4077300" cy="2079300"/>
          </a:xfrm>
          <a:prstGeom prst="rect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15"/>
          <p:cNvSpPr/>
          <p:nvPr>
            <p:ph idx="3" type="pic"/>
          </p:nvPr>
        </p:nvSpPr>
        <p:spPr>
          <a:xfrm>
            <a:off x="504600" y="2582700"/>
            <a:ext cx="4077300" cy="2079300"/>
          </a:xfrm>
          <a:prstGeom prst="rect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2D076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2200"/>
              <a:buFont typeface="Inter"/>
              <a:buNone/>
              <a:defRPr b="0" i="0" sz="2200" u="none" cap="none" strike="noStrike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  <a:defRPr b="0" i="0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  <a:defRPr b="0" i="0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  <a:defRPr b="0" i="0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  <a:defRPr b="0" i="0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  <a:defRPr b="0" i="0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  <a:defRPr b="0" i="0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  <a:defRPr b="0" i="0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Inter"/>
              <a:buNone/>
              <a:defRPr b="0" i="0" sz="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•"/>
              <a:defRPr b="0" i="0" sz="1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–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•"/>
              <a:defRPr b="0" i="0" sz="1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–"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»"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•"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/>
              <a:t>Доклад о древних юристах </a:t>
            </a:r>
            <a:endParaRPr/>
          </a:p>
        </p:txBody>
      </p:sp>
      <p:sp>
        <p:nvSpPr>
          <p:cNvPr id="111" name="Google Shape;111;p9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</a:pPr>
            <a:r>
              <a:rPr lang="ru" sz="3709"/>
              <a:t>Исторический обзор и ключевые аспекты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311700" y="473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ru">
                <a:solidFill>
                  <a:srgbClr val="C2D076"/>
                </a:solidFill>
              </a:rPr>
              <a:t>Ключевые характеристики древних юристов</a:t>
            </a:r>
            <a:endParaRPr>
              <a:solidFill>
                <a:srgbClr val="C2D076"/>
              </a:solidFill>
            </a:endParaRPr>
          </a:p>
        </p:txBody>
      </p:sp>
      <p:sp>
        <p:nvSpPr>
          <p:cNvPr id="40" name="Google Shape;40;p2"/>
          <p:cNvSpPr txBox="1"/>
          <p:nvPr>
            <p:ph idx="1" type="body"/>
          </p:nvPr>
        </p:nvSpPr>
        <p:spPr>
          <a:xfrm>
            <a:off x="311700" y="1446825"/>
            <a:ext cx="4088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</a:pPr>
            <a:r>
              <a:rPr lang="ru"/>
              <a:t>Древние юристы занимались разработкой и интерпретацией законов.</a:t>
            </a:r>
            <a:endParaRPr/>
          </a:p>
        </p:txBody>
      </p:sp>
      <p:sp>
        <p:nvSpPr>
          <p:cNvPr id="41" name="Google Shape;41;p2"/>
          <p:cNvSpPr txBox="1"/>
          <p:nvPr>
            <p:ph idx="1" type="body"/>
          </p:nvPr>
        </p:nvSpPr>
        <p:spPr>
          <a:xfrm>
            <a:off x="311700" y="2625638"/>
            <a:ext cx="4088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</a:pPr>
            <a:r>
              <a:rPr lang="ru"/>
              <a:t>Они играли важную роль в формировании правовых систем своих обществ.</a:t>
            </a:r>
            <a:endParaRPr/>
          </a:p>
        </p:txBody>
      </p:sp>
      <p:sp>
        <p:nvSpPr>
          <p:cNvPr id="42" name="Google Shape;42;p2"/>
          <p:cNvSpPr txBox="1"/>
          <p:nvPr>
            <p:ph idx="1" type="body"/>
          </p:nvPr>
        </p:nvSpPr>
        <p:spPr>
          <a:xfrm>
            <a:off x="311700" y="3804400"/>
            <a:ext cx="4088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</a:pPr>
            <a:r>
              <a:rPr lang="ru"/>
              <a:t>Юристы часто выступали в качестве советников для правителей.</a:t>
            </a:r>
            <a:endParaRPr/>
          </a:p>
        </p:txBody>
      </p:sp>
      <p:sp>
        <p:nvSpPr>
          <p:cNvPr id="43" name="Google Shape;43;p2"/>
          <p:cNvSpPr txBox="1"/>
          <p:nvPr>
            <p:ph idx="1" type="body"/>
          </p:nvPr>
        </p:nvSpPr>
        <p:spPr>
          <a:xfrm>
            <a:off x="4709050" y="1446862"/>
            <a:ext cx="4088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</a:pPr>
            <a:r>
              <a:rPr lang="ru"/>
              <a:t>Знание риторики и философии было необходимым для успешной практики.</a:t>
            </a:r>
            <a:endParaRPr/>
          </a:p>
        </p:txBody>
      </p:sp>
      <p:sp>
        <p:nvSpPr>
          <p:cNvPr id="44" name="Google Shape;44;p2"/>
          <p:cNvSpPr txBox="1"/>
          <p:nvPr>
            <p:ph idx="1" type="body"/>
          </p:nvPr>
        </p:nvSpPr>
        <p:spPr>
          <a:xfrm>
            <a:off x="4709050" y="2625625"/>
            <a:ext cx="4088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Древние юристы использовали прецеденты для обоснования своих решений.</a:t>
            </a:r>
            <a:endParaRPr/>
          </a:p>
        </p:txBody>
      </p:sp>
      <p:sp>
        <p:nvSpPr>
          <p:cNvPr id="45" name="Google Shape;45;p2"/>
          <p:cNvSpPr txBox="1"/>
          <p:nvPr>
            <p:ph idx="1" type="body"/>
          </p:nvPr>
        </p:nvSpPr>
        <p:spPr>
          <a:xfrm>
            <a:off x="4709050" y="3804438"/>
            <a:ext cx="4088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Их работы оказали значительное влияние на последующие правовые системы.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/>
          <p:nvPr>
            <p:ph type="title"/>
          </p:nvPr>
        </p:nvSpPr>
        <p:spPr>
          <a:xfrm>
            <a:off x="418950" y="428575"/>
            <a:ext cx="83577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ru">
                <a:solidFill>
                  <a:srgbClr val="C2D076"/>
                </a:solidFill>
              </a:rPr>
              <a:t>Сравнение правовых систем Древнего Рима и Греции</a:t>
            </a:r>
            <a:endParaRPr>
              <a:solidFill>
                <a:srgbClr val="C2D076"/>
              </a:solidFill>
            </a:endParaRPr>
          </a:p>
        </p:txBody>
      </p:sp>
      <p:sp>
        <p:nvSpPr>
          <p:cNvPr id="60" name="Google Shape;60;p4"/>
          <p:cNvSpPr txBox="1"/>
          <p:nvPr>
            <p:ph idx="1" type="body"/>
          </p:nvPr>
        </p:nvSpPr>
        <p:spPr>
          <a:xfrm>
            <a:off x="354775" y="2420975"/>
            <a:ext cx="40338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algn="l">
              <a:buNone/>
            </a:pPr>
            <a:r>
              <a:rPr lang="ru"/>
              <a:t>Древний Рим развивал право как систематизированный кодекс.</a:t>
            </a:r>
          </a:p>
          <a:p>
            <a:pPr algn="l" marL="342900" indent="-342900">
              <a:buChar char="•"/>
            </a:pPr>
            <a:r>
              <a:rPr lang="ru"/>
              <a:t>Основное внимание уделялось правам граждан.</a:t>
            </a:r>
          </a:p>
          <a:p>
            <a:pPr algn="l" marL="342900" indent="-342900">
              <a:buChar char="•"/>
            </a:pPr>
            <a:r>
              <a:rPr lang="ru"/>
              <a:t>Судебная практика и юриспруденция имели большое значение.</a:t>
            </a:r>
          </a:p>
        </p:txBody>
      </p:sp>
      <p:sp>
        <p:nvSpPr>
          <p:cNvPr id="61" name="Google Shape;61;p4"/>
          <p:cNvSpPr txBox="1"/>
          <p:nvPr/>
        </p:nvSpPr>
        <p:spPr>
          <a:xfrm>
            <a:off x="418950" y="1250575"/>
            <a:ext cx="39141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C2D076"/>
                </a:solidFill>
                <a:latin typeface="Arial"/>
                <a:ea typeface="Arial"/>
                <a:cs typeface="Arial"/>
                <a:sym typeface="Arial"/>
              </a:rPr>
              <a:t>Древний Рим</a:t>
            </a:r>
            <a:endParaRPr b="0" i="0" sz="1800" u="none" cap="none" strike="noStrike">
              <a:solidFill>
                <a:srgbClr val="C2D07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4572000" y="2420900"/>
            <a:ext cx="4204500" cy="2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algn="l">
              <a:buNone/>
            </a:pPr>
            <a:r>
              <a:rPr lang="ru"/>
              <a:t>Древняя Греция акцентировала внимание на философских основах права.</a:t>
            </a:r>
          </a:p>
          <a:p>
            <a:pPr algn="l" marL="342900" indent="-342900">
              <a:buChar char="•"/>
            </a:pPr>
            <a:r>
              <a:rPr lang="ru"/>
              <a:t>Право рассматривалось через призму моральных и этических норм.</a:t>
            </a:r>
          </a:p>
          <a:p>
            <a:pPr algn="l" marL="342900" indent="-342900">
              <a:buChar char="•"/>
            </a:pPr>
            <a:r>
              <a:rPr lang="ru"/>
              <a:t>Судебная система была менее формализованной.</a:t>
            </a:r>
          </a:p>
        </p:txBody>
      </p:sp>
      <p:sp>
        <p:nvSpPr>
          <p:cNvPr id="63" name="Google Shape;63;p4"/>
          <p:cNvSpPr txBox="1"/>
          <p:nvPr/>
        </p:nvSpPr>
        <p:spPr>
          <a:xfrm>
            <a:off x="4572000" y="1250575"/>
            <a:ext cx="42045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C2D076"/>
                </a:solidFill>
                <a:latin typeface="Arial"/>
                <a:ea typeface="Arial"/>
                <a:cs typeface="Arial"/>
                <a:sym typeface="Arial"/>
              </a:rPr>
              <a:t>Древняя Греция</a:t>
            </a:r>
            <a:endParaRPr b="0" i="0" sz="1800" u="none" cap="none" strike="noStrike">
              <a:solidFill>
                <a:srgbClr val="C2D07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5982550" y="1832900"/>
            <a:ext cx="2711100" cy="2887200"/>
          </a:xfrm>
          <a:prstGeom prst="rect">
            <a:avLst/>
          </a:prstGeom>
          <a:solidFill>
            <a:srgbClr val="C2D07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3123125" y="1832900"/>
            <a:ext cx="2711100" cy="2887200"/>
          </a:xfrm>
          <a:prstGeom prst="rect">
            <a:avLst/>
          </a:prstGeom>
          <a:solidFill>
            <a:srgbClr val="C2D07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311850" y="1832850"/>
            <a:ext cx="2663100" cy="2887200"/>
          </a:xfrm>
          <a:prstGeom prst="rect">
            <a:avLst/>
          </a:prstGeom>
          <a:solidFill>
            <a:srgbClr val="C2D07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7"/>
          <p:cNvSpPr txBox="1"/>
          <p:nvPr>
            <p:ph type="title"/>
          </p:nvPr>
        </p:nvSpPr>
        <p:spPr>
          <a:xfrm>
            <a:off x="311700" y="263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ru"/>
              <a:t>Основные школы мысли древних юристов </a:t>
            </a:r>
            <a:endParaRPr/>
          </a:p>
        </p:txBody>
      </p:sp>
      <p:sp>
        <p:nvSpPr>
          <p:cNvPr id="84" name="Google Shape;84;p7"/>
          <p:cNvSpPr txBox="1"/>
          <p:nvPr>
            <p:ph idx="1" type="body"/>
          </p:nvPr>
        </p:nvSpPr>
        <p:spPr>
          <a:xfrm>
            <a:off x="347700" y="918800"/>
            <a:ext cx="25914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C2D076"/>
                </a:solidFill>
              </a:rPr>
              <a:t>Школа адвокатов</a:t>
            </a:r>
            <a:endParaRPr>
              <a:solidFill>
                <a:srgbClr val="C2D076"/>
              </a:solidFill>
            </a:endParaRPr>
          </a:p>
        </p:txBody>
      </p:sp>
      <p:sp>
        <p:nvSpPr>
          <p:cNvPr id="85" name="Google Shape;85;p7"/>
          <p:cNvSpPr txBox="1"/>
          <p:nvPr>
            <p:ph idx="1" type="body"/>
          </p:nvPr>
        </p:nvSpPr>
        <p:spPr>
          <a:xfrm>
            <a:off x="3102100" y="918800"/>
            <a:ext cx="27321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C2D076"/>
                </a:solidFill>
              </a:rPr>
              <a:t>Школа юриспруденции </a:t>
            </a:r>
            <a:endParaRPr sz="1500">
              <a:solidFill>
                <a:srgbClr val="C2D07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 txBox="1"/>
          <p:nvPr>
            <p:ph idx="1" type="body"/>
          </p:nvPr>
        </p:nvSpPr>
        <p:spPr>
          <a:xfrm>
            <a:off x="5982400" y="918800"/>
            <a:ext cx="2711100" cy="7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C2D076"/>
                </a:solidFill>
              </a:rPr>
              <a:t>Школа философов</a:t>
            </a:r>
            <a:endParaRPr/>
          </a:p>
        </p:txBody>
      </p:sp>
      <p:sp>
        <p:nvSpPr>
          <p:cNvPr id="87" name="Google Shape;87;p7"/>
          <p:cNvSpPr txBox="1"/>
          <p:nvPr/>
        </p:nvSpPr>
        <p:spPr>
          <a:xfrm>
            <a:off x="383400" y="1985825"/>
            <a:ext cx="25557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Фокус на практике и судебных делах.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3203825" y="1985825"/>
            <a:ext cx="25557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Изучение законов и их применения.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6087975" y="1985825"/>
            <a:ext cx="25557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ru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Философские основы права и справедливости.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246875" y="171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ru"/>
              <a:t>Хронология развития юриспруденции </a:t>
            </a:r>
            <a:endParaRPr/>
          </a:p>
        </p:txBody>
      </p:sp>
      <p:cxnSp>
        <p:nvCxnSpPr>
          <p:cNvPr id="95" name="Google Shape;95;p8"/>
          <p:cNvCxnSpPr/>
          <p:nvPr/>
        </p:nvCxnSpPr>
        <p:spPr>
          <a:xfrm>
            <a:off x="302125" y="2783925"/>
            <a:ext cx="8497500" cy="0"/>
          </a:xfrm>
          <a:prstGeom prst="straightConnector1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8"/>
          <p:cNvCxnSpPr/>
          <p:nvPr/>
        </p:nvCxnSpPr>
        <p:spPr>
          <a:xfrm>
            <a:off x="1123225" y="2776175"/>
            <a:ext cx="0" cy="1433100"/>
          </a:xfrm>
          <a:prstGeom prst="straightConnector1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8"/>
          <p:cNvCxnSpPr/>
          <p:nvPr/>
        </p:nvCxnSpPr>
        <p:spPr>
          <a:xfrm rot="10800000">
            <a:off x="2990050" y="1312025"/>
            <a:ext cx="0" cy="1487400"/>
          </a:xfrm>
          <a:prstGeom prst="straightConnector1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8"/>
          <p:cNvCxnSpPr/>
          <p:nvPr/>
        </p:nvCxnSpPr>
        <p:spPr>
          <a:xfrm>
            <a:off x="4732975" y="2799425"/>
            <a:ext cx="0" cy="1417500"/>
          </a:xfrm>
          <a:prstGeom prst="straightConnector1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8"/>
          <p:cNvCxnSpPr/>
          <p:nvPr/>
        </p:nvCxnSpPr>
        <p:spPr>
          <a:xfrm rot="10800000">
            <a:off x="6553325" y="1312075"/>
            <a:ext cx="0" cy="1479600"/>
          </a:xfrm>
          <a:prstGeom prst="straightConnector1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8"/>
          <p:cNvCxnSpPr/>
          <p:nvPr/>
        </p:nvCxnSpPr>
        <p:spPr>
          <a:xfrm>
            <a:off x="7947650" y="2760725"/>
            <a:ext cx="0" cy="1494900"/>
          </a:xfrm>
          <a:prstGeom prst="straightConnector1">
            <a:avLst/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8"/>
          <p:cNvSpPr/>
          <p:nvPr/>
        </p:nvSpPr>
        <p:spPr>
          <a:xfrm>
            <a:off x="1263925" y="3547500"/>
            <a:ext cx="1614600" cy="129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C2D076"/>
                </a:solidFill>
              </a:rPr>
              <a:t>3000 г. до н.э. — Кодекс Хаммурапи, первый свод законов.</a:t>
            </a:r>
            <a:endParaRPr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1213175" y="648575"/>
            <a:ext cx="1614600" cy="129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C2D076"/>
                </a:solidFill>
              </a:rPr>
              <a:t>450 г. до н.э. — Законы XII таблиц в Древнем Риме.</a:t>
            </a:r>
            <a:endParaRPr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3883250" y="1312075"/>
            <a:ext cx="1614600" cy="129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C2D076"/>
                </a:solidFill>
              </a:rPr>
              <a:t>300 г. до н.э. — Возникновение стоической философии и её влияние на право.</a:t>
            </a:r>
            <a:endParaRPr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6714925" y="648575"/>
            <a:ext cx="1614600" cy="129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C2D076"/>
                </a:solidFill>
              </a:rPr>
              <a:t>27 г. до н.э. — Начало Римской империи и развитие римского права.</a:t>
            </a:r>
            <a:endParaRPr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6204350" y="3547500"/>
            <a:ext cx="1614600" cy="1293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C2D076"/>
                </a:solidFill>
              </a:rPr>
              <a:t>529 г. н.э. — Кодекс Юстиниана, систематизация римского права.</a:t>
            </a:r>
            <a:endParaRPr>
              <a:solidFill>
                <a:srgbClr val="C2D0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Minimalis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