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</p:sldIdLst>
  <p:sldSz cy="5143500" cx="9144000"/>
  <p:notesSz cx="6858000" cy="9144000"/>
  <p:embeddedFontLst>
    <p:embeddedFont>
      <p:font typeface="Nunit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5" Type="http://schemas.openxmlformats.org/officeDocument/2006/relationships/font" Target="fonts/Nunito-regular.fntdata"/><Relationship Id="rId17" Type="http://schemas.openxmlformats.org/officeDocument/2006/relationships/font" Target="fonts/Nunito-italic.fntdata"/><Relationship Id="rId16" Type="http://schemas.openxmlformats.org/officeDocument/2006/relationships/font" Target="fonts/Nunito-bold.fntdata"/><Relationship Id="rId5" Type="http://schemas.openxmlformats.org/officeDocument/2006/relationships/notesMaster" Target="notesMasters/notesMaster1.xml"/><Relationship Id="rId18" Type="http://schemas.openxmlformats.org/officeDocument/2006/relationships/font" Target="fonts/Nunito-boldItalic.fntdata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cbdce4d6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cbdce4d6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bdce4d647_0_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bdce4d647_0_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ce4d647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ce4d647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cbdce4d6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cbdce4d6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1ce9b845277efde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1ce9b845277efde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bdce4d647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cbdce4d647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dce4d647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bdce4d647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cbdce4d647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cbdce4d647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{{Будущее искусственного интеллекта в образовании}}</a:t>
            </a:r>
            <a:r>
              <a:rPr lang="ru"/>
              <a:t/>
            </a:r>
            <a:r>
              <a:rPr lang="ru"/>
              <a:t/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lang="ru" sz="3709">
                <a:solidFill>
                  <a:schemeClr val="dk1"/>
                </a:solidFill>
              </a:rPr>
              <a:t>{{Как AI трансформирует обучение к 2035 году}}</a:t>
            </a:r>
            <a:endParaRPr sz="14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311700" y="473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Текущие тенденции применения ИИ в образовании</a:t>
            </a:r>
            <a:endParaRPr/>
          </a:p>
        </p:txBody>
      </p:sp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Интерактивные чат‑боты предоставляют мгновенную поддержку студентам 24/7.</a:t>
            </a:r>
            <a:endParaRPr/>
          </a:p>
        </p:txBody>
      </p:sp>
      <p:sp>
        <p:nvSpPr>
          <p:cNvPr id="136" name="Google Shape;136;p14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Адаптивные платформы подстраивают учебный материал под уровень знаний каждого ученика.</a:t>
            </a:r>
            <a:endParaRPr/>
          </a:p>
        </p:txBody>
      </p:sp>
      <p:sp>
        <p:nvSpPr>
          <p:cNvPr id="137" name="Google Shape;137;p14"/>
          <p:cNvSpPr txBox="1"/>
          <p:nvPr>
            <p:ph idx="1" type="body"/>
          </p:nvPr>
        </p:nvSpPr>
        <p:spPr>
          <a:xfrm>
            <a:off x="311700" y="3804400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Автоматизированный анализ данных позволяет предсказывать успеваемость и вовремя вмешиваться.</a:t>
            </a:r>
            <a:endParaRPr/>
          </a:p>
        </p:txBody>
      </p:sp>
      <p:sp>
        <p:nvSpPr>
          <p:cNvPr id="138" name="Google Shape;138;p14"/>
          <p:cNvSpPr txBox="1"/>
          <p:nvPr>
            <p:ph idx="1" type="body"/>
          </p:nvPr>
        </p:nvSpPr>
        <p:spPr>
          <a:xfrm>
            <a:off x="4709050" y="1446838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Генерация персонализированных тестов ускоряет процесс оценки знаний.</a:t>
            </a:r>
            <a:endParaRPr/>
          </a:p>
        </p:txBody>
      </p:sp>
      <p:sp>
        <p:nvSpPr>
          <p:cNvPr id="139" name="Google Shape;139;p14"/>
          <p:cNvSpPr txBox="1"/>
          <p:nvPr>
            <p:ph idx="1" type="body"/>
          </p:nvPr>
        </p:nvSpPr>
        <p:spPr>
          <a:xfrm>
            <a:off x="4709050" y="2625625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Виртуальная и дополненная реальность с ИИ создают иммерсивные лабораторные занятия.</a:t>
            </a:r>
            <a:endParaRPr/>
          </a:p>
        </p:txBody>
      </p:sp>
      <p:sp>
        <p:nvSpPr>
          <p:cNvPr id="140" name="Google Shape;140;p14"/>
          <p:cNvSpPr txBox="1"/>
          <p:nvPr>
            <p:ph idx="1" type="body"/>
          </p:nvPr>
        </p:nvSpPr>
        <p:spPr>
          <a:xfrm>
            <a:off x="4709050" y="3804413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Системы управления учебным процессом используют ИИ для оптимизации расписаний и ресурсов.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776375" y="43925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2"/>
                </a:solidFill>
              </a:rPr>
              <a:t>Традиционное обучение vs AI‑поддержка</a:t>
            </a:r>
            <a:endParaRPr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55" name="Google Shape;155;p16"/>
          <p:cNvSpPr txBox="1"/>
          <p:nvPr>
            <p:ph idx="1" type="body"/>
          </p:nvPr>
        </p:nvSpPr>
        <p:spPr>
          <a:xfrm>
            <a:off x="3547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/>
              <a:t>Основные черты традиционного обучения</a:t>
            </a:r>
          </a:p>
          <a:p>
            <a:pPr algn="l" marL="342900" indent="-342900">
              <a:buChar char="•"/>
            </a:pPr>
            <a:r>
              <a:rPr lang="ru"/>
              <a:t>Фиксированная программа и расписание</a:t>
            </a:r>
          </a:p>
          <a:p>
            <a:pPr algn="l" marL="342900" indent="-342900">
              <a:buChar char="•"/>
            </a:pPr>
            <a:r>
              <a:rPr lang="ru"/>
              <a:t>Оценка основана на тестах и экзаменах</a:t>
            </a:r>
          </a:p>
          <a:p>
            <a:pPr algn="l" marL="342900" indent="-342900">
              <a:buChar char="•"/>
            </a:pPr>
            <a:r>
              <a:rPr lang="ru"/>
              <a:t>Ограниченная персонализация</a:t>
            </a:r>
          </a:p>
          <a:p>
            <a:pPr algn="l" marL="342900" indent="-342900">
              <a:buChar char="•"/>
            </a:pPr>
            <a:r>
              <a:rPr lang="ru"/>
              <a:t>Ручное администрирование и оценивание</a:t>
            </a:r>
          </a:p>
        </p:txBody>
      </p:sp>
      <p:sp>
        <p:nvSpPr>
          <p:cNvPr id="156" name="Google Shape;156;p16"/>
          <p:cNvSpPr txBox="1"/>
          <p:nvPr/>
        </p:nvSpPr>
        <p:spPr>
          <a:xfrm>
            <a:off x="418950" y="1250575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Традиционные методы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7" name="Google Shape;157;p16"/>
          <p:cNvSpPr txBox="1"/>
          <p:nvPr>
            <p:ph idx="1" type="body"/>
          </p:nvPr>
        </p:nvSpPr>
        <p:spPr>
          <a:xfrm>
            <a:off x="45720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>
                <a:solidFill>
                  <a:srgbClr val="000000"/>
                </a:solidFill>
              </a:rPr>
              <a:t>Характеристики AI‑поддерживаемого обучения</a:t>
            </a:r>
          </a:p>
          <a:p>
            <a:pPr algn="l" marL="342900" indent="-342900">
              <a:buChar char="•"/>
            </a:pPr>
            <a:r>
              <a:rPr lang="ru">
                <a:solidFill>
                  <a:srgbClr val="000000"/>
                </a:solidFill>
              </a:rPr>
              <a:t>Адаптивные учебные пути под каждого ученика</a:t>
            </a:r>
          </a:p>
          <a:p>
            <a:pPr algn="l" marL="342900" indent="-342900">
              <a:buChar char="•"/>
            </a:pPr>
            <a:r>
              <a:rPr lang="ru">
                <a:solidFill>
                  <a:srgbClr val="000000"/>
                </a:solidFill>
              </a:rPr>
              <a:t>Автоматическая оценка и обратная связь в реальном времени</a:t>
            </a:r>
          </a:p>
          <a:p>
            <a:pPr algn="l" marL="342900" indent="-342900">
              <a:buChar char="•"/>
            </a:pPr>
            <a:r>
              <a:rPr lang="ru">
                <a:solidFill>
                  <a:srgbClr val="000000"/>
                </a:solidFill>
              </a:rPr>
              <a:t>Анализ данных для прогнозирования успеваемости</a:t>
            </a:r>
          </a:p>
          <a:p>
            <a:pPr algn="l" marL="342900" indent="-342900">
              <a:buChar char="•"/>
            </a:pPr>
            <a:r>
              <a:rPr lang="ru">
                <a:solidFill>
                  <a:srgbClr val="000000"/>
                </a:solidFill>
              </a:rPr>
              <a:t>Снижение административных нагрузок</a:t>
            </a:r>
          </a:p>
        </p:txBody>
      </p:sp>
      <p:sp>
        <p:nvSpPr>
          <p:cNvPr id="158" name="Google Shape;158;p16"/>
          <p:cNvSpPr txBox="1"/>
          <p:nvPr/>
        </p:nvSpPr>
        <p:spPr>
          <a:xfrm>
            <a:off x="4572000" y="13234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AI‑поддерживаемые подходы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0"/>
          <p:cNvSpPr txBox="1"/>
          <p:nvPr>
            <p:ph type="title"/>
          </p:nvPr>
        </p:nvSpPr>
        <p:spPr>
          <a:xfrm>
            <a:off x="246875" y="1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Этапы развития ИИ в образовании (2020‑2035) </a:t>
            </a:r>
            <a:endParaRPr/>
          </a:p>
        </p:txBody>
      </p:sp>
      <p:cxnSp>
        <p:nvCxnSpPr>
          <p:cNvPr id="187" name="Google Shape;187;p20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8" name="Google Shape;188;p20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9" name="Google Shape;189;p20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0" name="Google Shape;190;p20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1" name="Google Shape;191;p20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2" name="Google Shape;192;p20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3" name="Google Shape;193;p20"/>
          <p:cNvSpPr txBox="1"/>
          <p:nvPr/>
        </p:nvSpPr>
        <p:spPr>
          <a:xfrm>
            <a:off x="556850" y="43414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2020 — Первые массовые внедрения адаптивных учебных платформ, использующих машинное обучение для рекомендаций контента.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2128400" y="7971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2023 — Широкое применение генеративных моделей для автоматизированного создания учебных материалов и интерактивных заданий.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39155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2027 — Интеграция ИИ‑ассистентов в онлайн‑классы, поддержка персонализированного наставничества в реальном времени.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5609500" y="797175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2031 — Полная автоматизация оценивания с использованием глубоких нейронных сетей, обеспечивающих мгновенную обратную связь и аналитические отчёты.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70541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2035 — Синергия ИИ и виртуальной реальности: полностью адаптивные обучающие среды, подстраиваемые под каждый стиль обучения.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Ключевые возможности ИИ в образовании </a:t>
            </a:r>
            <a:r>
              <a:rPr lang="ru"/>
              <a:t/>
            </a:r>
            <a:endParaRPr/>
          </a:p>
        </p:txBody>
      </p:sp>
      <p:sp>
        <p:nvSpPr>
          <p:cNvPr id="176" name="Google Shape;176;p19"/>
          <p:cNvSpPr txBox="1"/>
          <p:nvPr>
            <p:ph idx="1" type="body"/>
          </p:nvPr>
        </p:nvSpPr>
        <p:spPr>
          <a:xfrm>
            <a:off x="311700" y="1446825"/>
            <a:ext cx="2525100" cy="33201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Персонализация обучения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9"/>
          <p:cNvSpPr txBox="1"/>
          <p:nvPr>
            <p:ph idx="1" type="body"/>
          </p:nvPr>
        </p:nvSpPr>
        <p:spPr>
          <a:xfrm>
            <a:off x="3054100" y="1446825"/>
            <a:ext cx="2711100" cy="33201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Автоматизированная оценка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9"/>
          <p:cNvSpPr txBox="1"/>
          <p:nvPr>
            <p:ph idx="1" type="body"/>
          </p:nvPr>
        </p:nvSpPr>
        <p:spPr>
          <a:xfrm>
            <a:off x="5982400" y="1446825"/>
            <a:ext cx="2711100" cy="33201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Административная эффективность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18925" y="215625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algn="l">
              <a:buNone/>
            </a:pPr>
            <a:r>
              <a:rPr lang="ru" sz="1500">
                <a:solidFill>
                  <a:schemeClr val="dk2"/>
                </a:solidFill>
              </a:rPr>
              <a:t>ИИ адаптирует контент под каждого ученика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Рекомендации учебных материалов на основе прогресса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Динамическое построение учебных планов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Учёт стилей восприятия и темпа обучения</a:t>
            </a:r>
          </a:p>
        </p:txBody>
      </p:sp>
      <p:sp>
        <p:nvSpPr>
          <p:cNvPr id="180" name="Google Shape;180;p19"/>
          <p:cNvSpPr txBox="1"/>
          <p:nvPr/>
        </p:nvSpPr>
        <p:spPr>
          <a:xfrm>
            <a:off x="3215125" y="21141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algn="l">
              <a:buNone/>
            </a:pPr>
            <a:r>
              <a:rPr lang="ru" sz="1500">
                <a:solidFill>
                  <a:schemeClr val="dk2"/>
                </a:solidFill>
              </a:rPr>
              <a:t>Системы автоматически проверяют работы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Мгновенная обратная связь по тестам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Оценка открытых ответов с помощью NLP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Снижение нагрузки преподавателей</a:t>
            </a:r>
          </a:p>
        </p:txBody>
      </p:sp>
      <p:sp>
        <p:nvSpPr>
          <p:cNvPr id="181" name="Google Shape;181;p19"/>
          <p:cNvSpPr txBox="1"/>
          <p:nvPr/>
        </p:nvSpPr>
        <p:spPr>
          <a:xfrm>
            <a:off x="6184200" y="20720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algn="l">
              <a:buNone/>
            </a:pPr>
            <a:r>
              <a:rPr lang="ru" sz="1500">
                <a:solidFill>
                  <a:schemeClr val="dk2"/>
                </a:solidFill>
              </a:rPr>
              <a:t>ИИ оптимизирует управленческие процессы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Автоматическое расписание и ресурсное планирование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Аналитика успеваемости и оттока студентов</a:t>
            </a:r>
          </a:p>
          <a:p>
            <a:pPr algn="l" marL="342900" indent="-342900">
              <a:buChar char="•"/>
            </a:pPr>
            <a:r>
              <a:rPr lang="ru" sz="1500">
                <a:solidFill>
                  <a:schemeClr val="dk2"/>
                </a:solidFill>
              </a:rPr>
              <a:t>Поддержка процессов набора и адаптации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7"/>
          <p:cNvSpPr txBox="1"/>
          <p:nvPr>
            <p:ph type="title"/>
          </p:nvPr>
        </p:nvSpPr>
        <p:spPr>
          <a:xfrm>
            <a:off x="262125" y="260325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"/>
              <a:t>{{Вызовы и риски ИИ в образовании}}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7"/>
          <p:cNvSpPr txBox="1"/>
          <p:nvPr>
            <p:ph idx="1" type="body"/>
          </p:nvPr>
        </p:nvSpPr>
        <p:spPr>
          <a:xfrm>
            <a:off x="311700" y="957975"/>
            <a:ext cx="4312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/>
              <a:t>Внедрение ИИ сопряжено с рядом серьезных проблем</a:t>
            </a:r>
          </a:p>
          <a:p>
            <a:pPr algn="l" marL="342900" indent="-342900">
              <a:buChar char="•"/>
            </a:pPr>
            <a:r>
              <a:rPr lang="ru"/>
              <a:t>Этические вопросы конфиденциальности данных учащихся</a:t>
            </a:r>
          </a:p>
          <a:p>
            <a:pPr algn="l" marL="342900" indent="-342900">
              <a:buChar char="•"/>
            </a:pPr>
            <a:r>
              <a:rPr lang="ru"/>
              <a:t>Неравномерный доступ к технологиям усиливает образовательный разрыв</a:t>
            </a:r>
          </a:p>
          <a:p>
            <a:pPr algn="l" marL="342900" indent="-342900">
              <a:buChar char="•"/>
            </a:pPr>
            <a:r>
              <a:rPr lang="ru"/>
              <a:t>Снижение роли преподавателя может привести к потере педагогического контакта</a:t>
            </a: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1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Искусственный интеллект: путь к будущему образования </a:t>
            </a:r>
            <a:endParaRPr/>
          </a:p>
        </p:txBody>
      </p:sp>
      <p:sp>
        <p:nvSpPr>
          <p:cNvPr id="203" name="Google Shape;203;p21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709">
                <a:solidFill>
                  <a:schemeClr val="dk1"/>
                </a:solidFill>
              </a:rPr>
              <a:t>Внедряйте AI уже сегодня, чтобы обеспечить персонализированное обучение завтрашних лидеров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