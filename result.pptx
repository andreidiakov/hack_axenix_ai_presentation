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</p:sldIdLst>
  <p:sldSz cy="5143500" cx="9144000"/>
  <p:notesSz cx="6858000" cy="9144000"/>
  <p:embeddedFontLst>
    <p:embeddedFont>
      <p:font typeface="Anton"/>
      <p:regular r:id="rId15"/>
    </p:embeddedFont>
    <p:embeddedFont>
      <p:font typeface="Raleway"/>
      <p:regular r:id="rId16"/>
      <p:bold r:id="rId17"/>
      <p:italic r:id="rId18"/>
      <p:boldItalic r:id="rId19"/>
    </p:embeddedFont>
    <p:embeddedFont>
      <p:font typeface="Alata"/>
      <p:regular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21" roundtripDataSignature="AMtx7mgqhwoKocGEbOTty8hQLLWYrN/q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20" Type="http://schemas.openxmlformats.org/officeDocument/2006/relationships/font" Target="fonts/Alata-regular.fntdata"/><Relationship Id="rId21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5" Type="http://schemas.openxmlformats.org/officeDocument/2006/relationships/font" Target="fonts/Anton-regular.fntdata"/><Relationship Id="rId17" Type="http://schemas.openxmlformats.org/officeDocument/2006/relationships/font" Target="fonts/Raleway-bold.fntdata"/><Relationship Id="rId16" Type="http://schemas.openxmlformats.org/officeDocument/2006/relationships/font" Target="fonts/Raleway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Raleway-boldItalic.fntdata"/><Relationship Id="rId18" Type="http://schemas.openxmlformats.org/officeDocument/2006/relationships/font" Target="fonts/Raleway-italic.fntdata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1">
  <p:cSld name="TITLE_1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/>
          <p:nvPr>
            <p:ph type="ctrTitle"/>
          </p:nvPr>
        </p:nvSpPr>
        <p:spPr>
          <a:xfrm>
            <a:off x="311708" y="1869350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200"/>
              <a:buNone/>
              <a:defRPr sz="9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1" name="Google Shape;21;p14"/>
          <p:cNvSpPr txBox="1"/>
          <p:nvPr>
            <p:ph idx="1" type="subTitle"/>
          </p:nvPr>
        </p:nvSpPr>
        <p:spPr>
          <a:xfrm>
            <a:off x="311700" y="39589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ata"/>
              <a:buNone/>
              <a:defRPr sz="2800">
                <a:latin typeface="Alata"/>
                <a:ea typeface="Alata"/>
                <a:cs typeface="Alata"/>
                <a:sym typeface="Alat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2" name="Google Shape;2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5" name="Google Shape;2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1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1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7"/>
          <p:cNvSpPr/>
          <p:nvPr>
            <p:ph idx="2" type="pic"/>
          </p:nvPr>
        </p:nvSpPr>
        <p:spPr>
          <a:xfrm>
            <a:off x="656688" y="2359850"/>
            <a:ext cx="1691100" cy="1691100"/>
          </a:xfrm>
          <a:prstGeom prst="rect">
            <a:avLst/>
          </a:prstGeom>
          <a:noFill/>
          <a:ln>
            <a:noFill/>
          </a:ln>
        </p:spPr>
      </p:sp>
      <p:sp>
        <p:nvSpPr>
          <p:cNvPr id="33" name="Google Shape;33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4" name="Google Shape;34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5" name="Google Shape;35;p17"/>
          <p:cNvSpPr/>
          <p:nvPr>
            <p:ph idx="3" type="pic"/>
          </p:nvPr>
        </p:nvSpPr>
        <p:spPr>
          <a:xfrm>
            <a:off x="6796213" y="2359850"/>
            <a:ext cx="1691100" cy="1691100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17"/>
          <p:cNvSpPr/>
          <p:nvPr>
            <p:ph idx="4" type="pic"/>
          </p:nvPr>
        </p:nvSpPr>
        <p:spPr>
          <a:xfrm>
            <a:off x="2703196" y="2359850"/>
            <a:ext cx="1691100" cy="16911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7"/>
          <p:cNvSpPr/>
          <p:nvPr>
            <p:ph idx="5" type="pic"/>
          </p:nvPr>
        </p:nvSpPr>
        <p:spPr>
          <a:xfrm>
            <a:off x="4749704" y="2359850"/>
            <a:ext cx="1691100" cy="1691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/>
          <p:nvPr>
            <p:ph type="title"/>
          </p:nvPr>
        </p:nvSpPr>
        <p:spPr>
          <a:xfrm>
            <a:off x="490250" y="450150"/>
            <a:ext cx="41064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1" name="Google Shape;41;p18"/>
          <p:cNvSpPr/>
          <p:nvPr>
            <p:ph idx="2" type="pic"/>
          </p:nvPr>
        </p:nvSpPr>
        <p:spPr>
          <a:xfrm>
            <a:off x="3814650" y="1349025"/>
            <a:ext cx="4657800" cy="2818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1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" name="Google Shape;46;p1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0" name="Google Shape;5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7" name="Google Shape;7;p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nton"/>
              <a:buChar char="●"/>
              <a:defRPr b="0" i="0" sz="1800" u="none" cap="none" strike="noStrike">
                <a:solidFill>
                  <a:schemeClr val="dk2"/>
                </a:solidFill>
                <a:latin typeface="Anton"/>
                <a:ea typeface="Anton"/>
                <a:cs typeface="Anton"/>
                <a:sym typeface="Anton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nton"/>
              <a:buChar char="○"/>
              <a:defRPr b="0" i="0" sz="1400" u="none" cap="none" strike="noStrike">
                <a:solidFill>
                  <a:schemeClr val="dk2"/>
                </a:solidFill>
                <a:latin typeface="Anton"/>
                <a:ea typeface="Anton"/>
                <a:cs typeface="Anton"/>
                <a:sym typeface="Anton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■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●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○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■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●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○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■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9pPr>
          </a:lstStyle>
          <a:p/>
        </p:txBody>
      </p:sp>
      <p:sp>
        <p:nvSpPr>
          <p:cNvPr id="8" name="Google Shape;8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{{Будущее искусственного интеллекта в образовании}}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56" name="Google Shape;56;p1"/>
          <p:cNvSpPr txBox="1"/>
          <p:nvPr>
            <p:ph idx="1" type="subTitle"/>
          </p:nvPr>
        </p:nvSpPr>
        <p:spPr>
          <a:xfrm>
            <a:off x="311700" y="283412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b="1" lang="ru" sz="3709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{{ИИ трансформирует обучение, делая его более персонализированным и доступным}}</a:t>
            </a:r>
            <a:endParaRPr b="1" sz="149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57" name="Google Shape;57;p1"/>
          <p:cNvSpPr/>
          <p:nvPr/>
        </p:nvSpPr>
        <p:spPr>
          <a:xfrm>
            <a:off x="909060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58" name="Google Shape;58;p1"/>
          <p:cNvSpPr/>
          <p:nvPr/>
        </p:nvSpPr>
        <p:spPr>
          <a:xfrm>
            <a:off x="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"/>
          <p:cNvSpPr txBox="1"/>
          <p:nvPr>
            <p:ph type="title"/>
          </p:nvPr>
        </p:nvSpPr>
        <p:spPr>
          <a:xfrm>
            <a:off x="311700" y="4735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{{Текущее состояние ИИ в образовании}}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4" name="Google Shape;64;p2"/>
          <p:cNvSpPr txBox="1"/>
          <p:nvPr>
            <p:ph idx="1" type="body"/>
          </p:nvPr>
        </p:nvSpPr>
        <p:spPr>
          <a:xfrm>
            <a:off x="311700" y="1446825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{{Адаптивные платформы подстраивают учебный материал под уровень и стиль каждого ученика в реальном времени.}}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5" name="Google Shape;65;p2"/>
          <p:cNvSpPr txBox="1"/>
          <p:nvPr>
            <p:ph idx="1" type="body"/>
          </p:nvPr>
        </p:nvSpPr>
        <p:spPr>
          <a:xfrm>
            <a:off x="311700" y="2625650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{{Интеллектуальные чат‑боты отвечают на вопросы студентов круглосуточно, облегчая коммуникацию и поддержку.}}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6" name="Google Shape;66;p2"/>
          <p:cNvSpPr txBox="1"/>
          <p:nvPr>
            <p:ph idx="1" type="body"/>
          </p:nvPr>
        </p:nvSpPr>
        <p:spPr>
          <a:xfrm>
            <a:off x="311700" y="3804400"/>
            <a:ext cx="4088100" cy="11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{{Аналитика данных позволяет отслеживать прогресс, выявлять пробелы и прогнозировать результаты обучения.}}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7" name="Google Shape;67;p2"/>
          <p:cNvSpPr txBox="1"/>
          <p:nvPr>
            <p:ph idx="1" type="body"/>
          </p:nvPr>
        </p:nvSpPr>
        <p:spPr>
          <a:xfrm>
            <a:off x="4709050" y="1446864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{{Автоматизация оценивания ускоряет проверку заданий, снижая нагрузку преподавателей и повышая объективность.}}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8" name="Google Shape;68;p2"/>
          <p:cNvSpPr txBox="1"/>
          <p:nvPr>
            <p:ph idx="1" type="body"/>
          </p:nvPr>
        </p:nvSpPr>
        <p:spPr>
          <a:xfrm>
            <a:off x="4709050" y="2625625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{{Виртуальные лаборатории предоставляют иммерсивные практические опыты без необходимости физического оборудования.}}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9" name="Google Shape;69;p2"/>
          <p:cNvSpPr txBox="1"/>
          <p:nvPr>
            <p:ph idx="1" type="body"/>
          </p:nvPr>
        </p:nvSpPr>
        <p:spPr>
          <a:xfrm>
            <a:off x="4709050" y="3804441"/>
            <a:ext cx="4088100" cy="11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{{Поддержка преподавателей через ИИ‑ассистенты помогает в планировании занятий, подготовке материалов и индивидуальном сопровождении учащихся.}}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909060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"/>
          <p:cNvSpPr txBox="1"/>
          <p:nvPr>
            <p:ph type="title"/>
          </p:nvPr>
        </p:nvSpPr>
        <p:spPr>
          <a:xfrm>
            <a:off x="246875" y="171275"/>
            <a:ext cx="8520600" cy="5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Этапы развития ИИ в образовании (2020‑2035) 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31" name="Google Shape;131;p8"/>
          <p:cNvCxnSpPr/>
          <p:nvPr/>
        </p:nvCxnSpPr>
        <p:spPr>
          <a:xfrm>
            <a:off x="302125" y="2783925"/>
            <a:ext cx="8497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2" name="Google Shape;132;p8"/>
          <p:cNvCxnSpPr/>
          <p:nvPr/>
        </p:nvCxnSpPr>
        <p:spPr>
          <a:xfrm>
            <a:off x="1123225" y="2776175"/>
            <a:ext cx="0" cy="143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3" name="Google Shape;133;p8"/>
          <p:cNvCxnSpPr/>
          <p:nvPr/>
        </p:nvCxnSpPr>
        <p:spPr>
          <a:xfrm rot="10800000">
            <a:off x="2990050" y="1312025"/>
            <a:ext cx="0" cy="1487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4" name="Google Shape;134;p8"/>
          <p:cNvCxnSpPr/>
          <p:nvPr/>
        </p:nvCxnSpPr>
        <p:spPr>
          <a:xfrm>
            <a:off x="4732975" y="2799425"/>
            <a:ext cx="0" cy="141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5" name="Google Shape;135;p8"/>
          <p:cNvCxnSpPr/>
          <p:nvPr/>
        </p:nvCxnSpPr>
        <p:spPr>
          <a:xfrm rot="10800000">
            <a:off x="6553325" y="1312075"/>
            <a:ext cx="0" cy="147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6" name="Google Shape;136;p8"/>
          <p:cNvCxnSpPr/>
          <p:nvPr/>
        </p:nvCxnSpPr>
        <p:spPr>
          <a:xfrm>
            <a:off x="7947650" y="2760725"/>
            <a:ext cx="0" cy="1494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8"/>
          <p:cNvSpPr txBox="1"/>
          <p:nvPr/>
        </p:nvSpPr>
        <p:spPr>
          <a:xfrm>
            <a:off x="1202950" y="2897850"/>
            <a:ext cx="1787100" cy="19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2020 – Широкое внедрение адаптивных платформ и онлайн‑курсов с элементами ИИ, позволяющих подстраивать материал под уровень ученика.</a:t>
            </a:r>
            <a:endParaRPr b="1" i="0" sz="18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1016300" y="743975"/>
            <a:ext cx="1787100" cy="18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2023 – Интеграция чат‑ботов и виртуальных ассистентов в учебные среды, автоматизирующих ответы на вопросы и поддерживающих диалоговое обучение.</a:t>
            </a:r>
            <a:endParaRPr b="1" i="0" sz="18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39" name="Google Shape;139;p8"/>
          <p:cNvSpPr txBox="1"/>
          <p:nvPr/>
        </p:nvSpPr>
        <p:spPr>
          <a:xfrm>
            <a:off x="3774850" y="744075"/>
            <a:ext cx="1787100" cy="18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2027 – Применение аналитики больших данных для предсказания успеваемости и раннего выявления проблемных областей у студентов.</a:t>
            </a:r>
            <a:endParaRPr b="1" i="0" sz="18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6796475" y="726450"/>
            <a:ext cx="1787100" cy="18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2030 – Внедрение интеллектуальных систем оценки, заменяющих традиционные тесты адаптивными заданиями с автоматическим обратным связью.</a:t>
            </a:r>
            <a:endParaRPr b="1" i="0" sz="18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6018250" y="2946800"/>
            <a:ext cx="1787100" cy="19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2034 – Полная автоматизация административных процессов и персонализированных учебных траекторий, соединяющих онлайн и офлайн форматы.</a:t>
            </a:r>
            <a:endParaRPr b="1" i="0" sz="18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909060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"/>
          <p:cNvSpPr txBox="1"/>
          <p:nvPr>
            <p:ph type="title"/>
          </p:nvPr>
        </p:nvSpPr>
        <p:spPr>
          <a:xfrm>
            <a:off x="418950" y="428575"/>
            <a:ext cx="8357700" cy="5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Традиционное обучение vs ИИ‑поддержка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88" name="Google Shape;88;p4"/>
          <p:cNvSpPr txBox="1"/>
          <p:nvPr>
            <p:ph idx="1" type="body"/>
          </p:nvPr>
        </p:nvSpPr>
        <p:spPr>
          <a:xfrm>
            <a:off x="354775" y="1859600"/>
            <a:ext cx="3834900" cy="30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Классический подход без ИИ</a:t>
            </a:r>
          </a:p>
          <a:p>
            <a:pPr algn="l" marL="342900" indent="-342900">
              <a:buChar char="•"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Эффективность ограничена средними результатами учащихся</a:t>
            </a:r>
          </a:p>
          <a:p>
            <a:pPr algn="l" marL="342900" indent="-342900">
              <a:buChar char="•"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Доступность зависит от инфраструктуры и ресурсов школы</a:t>
            </a:r>
          </a:p>
          <a:p>
            <a:pPr algn="l" marL="342900" indent="-342900">
              <a:buChar char="•"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Персонализация минимальна, учебный материал одинаковый для всех</a:t>
            </a:r>
          </a:p>
        </p:txBody>
      </p:sp>
      <p:sp>
        <p:nvSpPr>
          <p:cNvPr id="89" name="Google Shape;89;p4"/>
          <p:cNvSpPr txBox="1"/>
          <p:nvPr/>
        </p:nvSpPr>
        <p:spPr>
          <a:xfrm>
            <a:off x="354775" y="1250575"/>
            <a:ext cx="3834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Традиционные методы</a:t>
            </a:r>
            <a:endParaRPr b="1" i="0" sz="1800" u="none" cap="none" strike="noStrike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90" name="Google Shape;90;p4"/>
          <p:cNvSpPr txBox="1"/>
          <p:nvPr>
            <p:ph idx="1" type="body"/>
          </p:nvPr>
        </p:nvSpPr>
        <p:spPr>
          <a:xfrm>
            <a:off x="4710750" y="1859600"/>
            <a:ext cx="4083900" cy="30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Интеллектуальная поддержка обучения</a:t>
            </a:r>
          </a:p>
          <a:p>
            <a:pPr algn="l" marL="342900" indent="-342900">
              <a:buChar char="•"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Эффективность повышается за счёт адаптивных рекомендаций</a:t>
            </a:r>
          </a:p>
          <a:p>
            <a:pPr algn="l" marL="342900" indent="-342900">
              <a:buChar char="•"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Доступность расширяется через онлайн‑платформы и масштабируемые сервисы</a:t>
            </a:r>
          </a:p>
          <a:p>
            <a:pPr algn="l" marL="342900" indent="-342900">
              <a:buChar char="•"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Персонализация глубока: контент и темп подбираются под каждого ученика</a:t>
            </a:r>
          </a:p>
        </p:txBody>
      </p:sp>
      <p:sp>
        <p:nvSpPr>
          <p:cNvPr id="91" name="Google Shape;91;p4"/>
          <p:cNvSpPr txBox="1"/>
          <p:nvPr/>
        </p:nvSpPr>
        <p:spPr>
          <a:xfrm>
            <a:off x="4710750" y="1250575"/>
            <a:ext cx="408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Обучение с ИИ</a:t>
            </a:r>
            <a:endParaRPr b="1" i="0" sz="1800" u="none" cap="none" strike="noStrike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909060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cxnSp>
        <p:nvCxnSpPr>
          <p:cNvPr id="94" name="Google Shape;94;p4"/>
          <p:cNvCxnSpPr/>
          <p:nvPr/>
        </p:nvCxnSpPr>
        <p:spPr>
          <a:xfrm>
            <a:off x="4535400" y="1234000"/>
            <a:ext cx="0" cy="3892200"/>
          </a:xfrm>
          <a:prstGeom prst="straightConnector1">
            <a:avLst/>
          </a:prstGeom>
          <a:noFill/>
          <a:ln cap="flat" cmpd="sng" w="9525">
            <a:solidFill>
              <a:srgbClr val="C2D076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Главные направления ИИ в образовании 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6" name="Google Shape;116;p7"/>
          <p:cNvSpPr txBox="1"/>
          <p:nvPr>
            <p:ph idx="1" type="body"/>
          </p:nvPr>
        </p:nvSpPr>
        <p:spPr>
          <a:xfrm>
            <a:off x="311700" y="1446825"/>
            <a:ext cx="2525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500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Персонализированное обучение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7" name="Google Shape;117;p7"/>
          <p:cNvSpPr txBox="1"/>
          <p:nvPr>
            <p:ph idx="1" type="body"/>
          </p:nvPr>
        </p:nvSpPr>
        <p:spPr>
          <a:xfrm>
            <a:off x="3054100" y="1446825"/>
            <a:ext cx="2711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500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Интеллектуальная оценка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7"/>
          <p:cNvSpPr txBox="1"/>
          <p:nvPr>
            <p:ph idx="1" type="body"/>
          </p:nvPr>
        </p:nvSpPr>
        <p:spPr>
          <a:xfrm>
            <a:off x="6015400" y="1446825"/>
            <a:ext cx="2678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500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Автоматизация администрирования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311700" y="2156250"/>
            <a:ext cx="2458800" cy="26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ru" sz="15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Адаптивные траектории, рекомендации контента и поддержка в реальном времени </a:t>
            </a:r>
            <a:endParaRPr b="1" i="0" sz="14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0" name="Google Shape;120;p7"/>
          <p:cNvSpPr txBox="1"/>
          <p:nvPr/>
        </p:nvSpPr>
        <p:spPr>
          <a:xfrm>
            <a:off x="3037350" y="2114025"/>
            <a:ext cx="2711100" cy="27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ru" sz="15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Автоматическое создание тестов, мгновенный анализ ответов и обратная связь </a:t>
            </a:r>
            <a:endParaRPr b="1" i="0" sz="14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6015175" y="2156250"/>
            <a:ext cx="2678100" cy="27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ru" sz="15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Боты для расписаний, управление ресурсами и аналитика процессов </a:t>
            </a:r>
            <a:endParaRPr b="1" i="0" sz="14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90991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cxnSp>
        <p:nvCxnSpPr>
          <p:cNvPr id="124" name="Google Shape;124;p7"/>
          <p:cNvCxnSpPr/>
          <p:nvPr/>
        </p:nvCxnSpPr>
        <p:spPr>
          <a:xfrm>
            <a:off x="2910725" y="1308875"/>
            <a:ext cx="0" cy="3838800"/>
          </a:xfrm>
          <a:prstGeom prst="straightConnector1">
            <a:avLst/>
          </a:prstGeom>
          <a:noFill/>
          <a:ln cap="flat" cmpd="sng" w="9525">
            <a:solidFill>
              <a:srgbClr val="C2D076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5" name="Google Shape;125;p7"/>
          <p:cNvCxnSpPr/>
          <p:nvPr/>
        </p:nvCxnSpPr>
        <p:spPr>
          <a:xfrm>
            <a:off x="5885350" y="1308875"/>
            <a:ext cx="0" cy="3838800"/>
          </a:xfrm>
          <a:prstGeom prst="straightConnector1">
            <a:avLst/>
          </a:prstGeom>
          <a:noFill/>
          <a:ln cap="flat" cmpd="sng" w="9525">
            <a:solidFill>
              <a:srgbClr val="C2D076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"/>
          <p:cNvSpPr txBox="1"/>
          <p:nvPr>
            <p:ph type="title"/>
          </p:nvPr>
        </p:nvSpPr>
        <p:spPr>
          <a:xfrm>
            <a:off x="311700" y="470850"/>
            <a:ext cx="8341500" cy="5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Вызовы и риски ИИ в образовании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7" name="Google Shape;77;p3"/>
          <p:cNvSpPr txBox="1"/>
          <p:nvPr>
            <p:ph idx="1" type="body"/>
          </p:nvPr>
        </p:nvSpPr>
        <p:spPr>
          <a:xfrm>
            <a:off x="311700" y="1446825"/>
            <a:ext cx="4088100" cy="1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Этические вопросы, связанные с предвзятостью алгоритмов и принятием решений, требуют прозрачных принципов и контроля.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8" name="Google Shape;78;p3"/>
          <p:cNvSpPr txBox="1"/>
          <p:nvPr>
            <p:ph idx="1" type="body"/>
          </p:nvPr>
        </p:nvSpPr>
        <p:spPr>
          <a:xfrm>
            <a:off x="311700" y="3180198"/>
            <a:ext cx="4088100" cy="1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Сбор и хранение персональных данных учащихся поднимает проблемы конфиденциальности и требует строгих мер защиты.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9" name="Google Shape;79;p3"/>
          <p:cNvSpPr txBox="1"/>
          <p:nvPr>
            <p:ph idx="1" type="body"/>
          </p:nvPr>
        </p:nvSpPr>
        <p:spPr>
          <a:xfrm>
            <a:off x="4701300" y="1446825"/>
            <a:ext cx="4088100" cy="1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Неравный доступ к цифровой инфраструктуре может усилить образовательный разрыв между регионами и социальными группами.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80" name="Google Shape;80;p3"/>
          <p:cNvSpPr txBox="1"/>
          <p:nvPr>
            <p:ph idx="1" type="body"/>
          </p:nvPr>
        </p:nvSpPr>
        <p:spPr>
          <a:xfrm>
            <a:off x="4701300" y="3180372"/>
            <a:ext cx="4088100" cy="1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Сильная зависимость от ИИ‑систем повышает риск сбоев и уменьшает автономию преподавателей и студентов.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909090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Ответственное будущее ИИ в образовании 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9" name="Google Shape;149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709">
                <a:latin typeface="Raleway"/>
                <a:ea typeface="Raleway"/>
                <a:cs typeface="Raleway"/>
                <a:sym typeface="Raleway"/>
              </a:rPr>
              <a:t>Объединим усилия для этичного и доступного ИИ-образования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50" name="Google Shape;150;p9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51" name="Google Shape;151;p9"/>
          <p:cNvSpPr/>
          <p:nvPr/>
        </p:nvSpPr>
        <p:spPr>
          <a:xfrm>
            <a:off x="909915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