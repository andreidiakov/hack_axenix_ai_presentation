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cbdce4d64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cbdce4d64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bdce4d647_0_2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bdce4d647_0_2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cbdce4d647_0_2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cbdce4d647_0_2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cbdce4d64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cbdce4d64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1ce9b845277efdee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1ce9b845277efdee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cbdce4d647_0_3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cbdce4d647_0_3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cbdce4d647_0_3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cbdce4d647_0_3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bdce4d647_0_2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bdce4d647_0_2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Цифровая трансформация банка</a:t>
            </a:r>
            <a:r>
              <a:rPr lang="ru"/>
              <a:t/>
            </a:r>
            <a:r>
              <a:rPr lang="ru"/>
              <a:t/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</a:pPr>
            <a:r>
              <a:rPr lang="ru" sz="3709">
                <a:solidFill>
                  <a:schemeClr val="dk1"/>
                </a:solidFill>
              </a:rPr>
              <a:t>Стратегия развития на 2025–2027</a:t>
            </a:r>
            <a:endParaRPr sz="149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Ключевые цели программы</a:t>
            </a:r>
            <a:endParaRPr/>
          </a:p>
        </p:txBody>
      </p:sp>
      <p:sp>
        <p:nvSpPr>
          <p:cNvPr id="72" name="Google Shape;72;p15"/>
          <p:cNvSpPr txBox="1"/>
          <p:nvPr>
            <p:ph idx="1" type="body"/>
          </p:nvPr>
        </p:nvSpPr>
        <p:spPr>
          <a:xfrm>
            <a:off x="311700" y="1446825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Повысить NPS с 41 до 65 к 2026 году</a:t>
            </a:r>
            <a:endParaRPr/>
          </a:p>
        </p:txBody>
      </p:sp>
      <p:sp>
        <p:nvSpPr>
          <p:cNvPr id="73" name="Google Shape;73;p15"/>
          <p:cNvSpPr txBox="1"/>
          <p:nvPr>
            <p:ph idx="1" type="body"/>
          </p:nvPr>
        </p:nvSpPr>
        <p:spPr>
          <a:xfrm>
            <a:off x="311700" y="2625613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Запустить новое мобильное приложение в Q3 2025</a:t>
            </a:r>
            <a:endParaRPr/>
          </a:p>
        </p:txBody>
      </p:sp>
      <p:sp>
        <p:nvSpPr>
          <p:cNvPr id="74" name="Google Shape;74;p15"/>
          <p:cNvSpPr txBox="1"/>
          <p:nvPr>
            <p:ph idx="1" type="body"/>
          </p:nvPr>
        </p:nvSpPr>
        <p:spPr>
          <a:xfrm>
            <a:off x="4701300" y="1446825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Сократить время онбординга до 5 минут</a:t>
            </a:r>
            <a:endParaRPr/>
          </a:p>
        </p:txBody>
      </p:sp>
      <p:sp>
        <p:nvSpPr>
          <p:cNvPr id="75" name="Google Shape;75;p15"/>
          <p:cNvSpPr txBox="1"/>
          <p:nvPr>
            <p:ph idx="1" type="body"/>
          </p:nvPr>
        </p:nvSpPr>
        <p:spPr>
          <a:xfrm>
            <a:off x="4701300" y="2625613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Перевести 80% операций в цифровой канал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Сильные стороны и зоны роста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 </a:t>
            </a:r>
            <a:endParaRPr/>
          </a:p>
        </p:txBody>
      </p:sp>
      <p:sp>
        <p:nvSpPr>
          <p:cNvPr id="81" name="Google Shape;81;p16"/>
          <p:cNvSpPr txBox="1"/>
          <p:nvPr>
            <p:ph idx="1" type="body"/>
          </p:nvPr>
        </p:nvSpPr>
        <p:spPr>
          <a:xfrm>
            <a:off x="226475" y="1859600"/>
            <a:ext cx="4033800" cy="275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algn="l" marL="342900" indent="-342900">
              <a:buChar char="•"/>
            </a:pPr>
            <a:r>
              <a:rPr lang="ru"/>
              <a:t>Развитая региональная сеть (340 отделений)</a:t>
            </a:r>
          </a:p>
          <a:p>
            <a:pPr algn="l" marL="342900" indent="-342900">
              <a:buChar char="•"/>
            </a:pPr>
            <a:r>
              <a:rPr lang="ru"/>
              <a:t>Высокий уровень доверия клиентов (NPS 62)</a:t>
            </a:r>
          </a:p>
          <a:p>
            <a:pPr algn="l" marL="342900" indent="-342900">
              <a:buChar char="•"/>
            </a:pPr>
            <a:r>
              <a:rPr lang="ru"/>
              <a:t>Лицензии и регуляторный опыт</a:t>
            </a:r>
          </a:p>
        </p:txBody>
      </p:sp>
      <p:sp>
        <p:nvSpPr>
          <p:cNvPr id="82" name="Google Shape;82;p16"/>
          <p:cNvSpPr txBox="1"/>
          <p:nvPr/>
        </p:nvSpPr>
        <p:spPr>
          <a:xfrm>
            <a:off x="226475" y="1207813"/>
            <a:ext cx="195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Сильные стороны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4260300" y="1102225"/>
            <a:ext cx="4883700" cy="41025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6"/>
          <p:cNvSpPr txBox="1"/>
          <p:nvPr>
            <p:ph idx="1" type="body"/>
          </p:nvPr>
        </p:nvSpPr>
        <p:spPr>
          <a:xfrm>
            <a:off x="4462800" y="1859600"/>
            <a:ext cx="4204500" cy="275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algn="l" marL="342900" indent="-342900">
              <a:buAutoNum type="arabicPeriod"/>
            </a:pPr>
            <a:r>
              <a:rPr lang="ru">
                <a:solidFill>
                  <a:schemeClr val="lt1"/>
                </a:solidFill>
              </a:rPr>
              <a:t>UX мобильного приложения — устарел на 3 года</a:t>
            </a:r>
          </a:p>
          <a:p>
            <a:pPr algn="l" marL="342900" indent="-342900">
              <a:buAutoNum type="arabicPeriod"/>
            </a:pPr>
            <a:r>
              <a:rPr lang="ru">
                <a:solidFill>
                  <a:schemeClr val="lt1"/>
                </a:solidFill>
              </a:rPr>
              <a:t>Скорость онбординга: 5 дней vs 15 минут у конкурентов</a:t>
            </a:r>
          </a:p>
          <a:p>
            <a:pPr algn="l" marL="342900" indent="-342900">
              <a:buAutoNum type="arabicPeriod"/>
            </a:pPr>
            <a:r>
              <a:rPr lang="ru">
                <a:solidFill>
                  <a:schemeClr val="lt1"/>
                </a:solidFill>
              </a:rPr>
              <a:t>Персонализация продуктового предложения</a:t>
            </a:r>
          </a:p>
        </p:txBody>
      </p:sp>
      <p:sp>
        <p:nvSpPr>
          <p:cNvPr id="85" name="Google Shape;85;p16"/>
          <p:cNvSpPr txBox="1"/>
          <p:nvPr/>
        </p:nvSpPr>
        <p:spPr>
          <a:xfrm>
            <a:off x="4462800" y="1302000"/>
            <a:ext cx="195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lt1"/>
                </a:solidFill>
              </a:rPr>
              <a:t>Зоны роста</a:t>
            </a:r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До и после трансформации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 </a:t>
            </a:r>
            <a:endParaRPr/>
          </a:p>
        </p:txBody>
      </p:sp>
      <p:sp>
        <p:nvSpPr>
          <p:cNvPr id="81" name="Google Shape;81;p16"/>
          <p:cNvSpPr txBox="1"/>
          <p:nvPr>
            <p:ph idx="1" type="body"/>
          </p:nvPr>
        </p:nvSpPr>
        <p:spPr>
          <a:xfrm>
            <a:off x="226475" y="1859600"/>
            <a:ext cx="4033800" cy="275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algn="l">
              <a:buNone/>
            </a:pPr>
            <a:r>
              <a:rPr lang="ru"/>
              <a:t>Текущие показатели процессов:</a:t>
            </a:r>
          </a:p>
          <a:p>
            <a:pPr algn="l" marL="342900" indent="-342900">
              <a:buChar char="•"/>
            </a:pPr>
            <a:r>
              <a:rPr lang="ru"/>
              <a:t>Среднее время заявки: 5 рабочих дней</a:t>
            </a:r>
          </a:p>
          <a:p>
            <a:pPr algn="l" marL="342900" indent="-342900">
              <a:buChar char="•"/>
            </a:pPr>
            <a:r>
              <a:rPr lang="ru"/>
              <a:t>12 шагов в процессе онбординга</a:t>
            </a:r>
          </a:p>
          <a:p>
            <a:pPr algn="l" marL="342900" indent="-342900">
              <a:buChar char="•"/>
            </a:pPr>
            <a:r>
              <a:rPr lang="ru"/>
              <a:t>Только офисное обслуживание</a:t>
            </a:r>
          </a:p>
        </p:txBody>
      </p:sp>
      <p:sp>
        <p:nvSpPr>
          <p:cNvPr id="82" name="Google Shape;82;p16"/>
          <p:cNvSpPr txBox="1"/>
          <p:nvPr/>
        </p:nvSpPr>
        <p:spPr>
          <a:xfrm>
            <a:off x="226475" y="1207813"/>
            <a:ext cx="195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Сейчас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4260300" y="1102225"/>
            <a:ext cx="4883700" cy="41025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6"/>
          <p:cNvSpPr txBox="1"/>
          <p:nvPr>
            <p:ph idx="1" type="body"/>
          </p:nvPr>
        </p:nvSpPr>
        <p:spPr>
          <a:xfrm>
            <a:off x="4462800" y="1859600"/>
            <a:ext cx="4204500" cy="275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algn="l">
              <a:buNone/>
            </a:pPr>
            <a:r>
              <a:rPr lang="ru">
                <a:solidFill>
                  <a:schemeClr val="lt1"/>
                </a:solidFill>
              </a:rPr>
              <a:t>Целевые показатели:</a:t>
            </a:r>
          </a:p>
          <a:p>
            <a:pPr algn="l" marL="342900" indent="-342900">
              <a:buChar char="•"/>
            </a:pPr>
            <a:r>
              <a:rPr lang="ru">
                <a:solidFill>
                  <a:schemeClr val="lt1"/>
                </a:solidFill>
              </a:rPr>
              <a:t>Среднее время заявки: 15 минут</a:t>
            </a:r>
          </a:p>
          <a:p>
            <a:pPr algn="l" marL="342900" indent="-342900">
              <a:buChar char="•"/>
            </a:pPr>
            <a:r>
              <a:rPr lang="ru">
                <a:solidFill>
                  <a:schemeClr val="lt1"/>
                </a:solidFill>
              </a:rPr>
              <a:t>3 шага до открытия счёта</a:t>
            </a:r>
          </a:p>
          <a:p>
            <a:pPr algn="l" marL="342900" indent="-342900">
              <a:buChar char="•"/>
            </a:pPr>
            <a:r>
              <a:rPr lang="ru">
                <a:solidFill>
                  <a:schemeClr val="lt1"/>
                </a:solidFill>
              </a:rPr>
              <a:t>100% дистанционно</a:t>
            </a:r>
          </a:p>
        </p:txBody>
      </p:sp>
      <p:sp>
        <p:nvSpPr>
          <p:cNvPr id="85" name="Google Shape;85;p16"/>
          <p:cNvSpPr txBox="1"/>
          <p:nvPr/>
        </p:nvSpPr>
        <p:spPr>
          <a:xfrm>
            <a:off x="4462800" y="1302000"/>
            <a:ext cx="195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lt1"/>
                </a:solidFill>
              </a:rPr>
              <a:t>После</a:t>
            </a:r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735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Почему сейчас?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446825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Рынок цифрового банкинга: +41% за 2 года</a:t>
            </a:r>
            <a:endParaRPr/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311700" y="2625613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Проникновение мобильного банка достигло 67%</a:t>
            </a:r>
            <a:endParaRPr/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3804400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Необанки забирают 28% новых клиентов</a:t>
            </a:r>
            <a:endParaRPr/>
          </a:p>
        </p:txBody>
      </p:sp>
      <p:sp>
        <p:nvSpPr>
          <p:cNvPr id="64" name="Google Shape;64;p14"/>
          <p:cNvSpPr txBox="1"/>
          <p:nvPr>
            <p:ph idx="1" type="body"/>
          </p:nvPr>
        </p:nvSpPr>
        <p:spPr>
          <a:xfrm>
            <a:off x="4709050" y="1446838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NPS цифровых банков выше на 18 пунктов</a:t>
            </a:r>
            <a:endParaRPr/>
          </a:p>
        </p:txBody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4709050" y="2625625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Регулятор стимулирует Open Banking</a:t>
            </a:r>
            <a:endParaRPr/>
          </a:p>
        </p:txBody>
      </p:sp>
      <p:sp>
        <p:nvSpPr>
          <p:cNvPr id="66" name="Google Shape;66;p14"/>
          <p:cNvSpPr txBox="1"/>
          <p:nvPr>
            <p:ph idx="1" type="body"/>
          </p:nvPr>
        </p:nvSpPr>
        <p:spPr>
          <a:xfrm>
            <a:off x="4709050" y="3804413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Конкуренты уже запустили цифровую трансформацию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-1373950" y="164075"/>
            <a:ext cx="6425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ru"/>
              <a:t>Наш подход к трансформации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ru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7"/>
          <p:cNvSpPr txBox="1"/>
          <p:nvPr>
            <p:ph idx="1" type="body"/>
          </p:nvPr>
        </p:nvSpPr>
        <p:spPr>
          <a:xfrm>
            <a:off x="311700" y="957975"/>
            <a:ext cx="4312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algn="l">
              <a:buNone/>
            </a:pPr>
            <a:r>
              <a:rPr lang="ru"/>
              <a:t>Программа реализуется в 3 этапа:</a:t>
            </a:r>
          </a:p>
          <a:p>
            <a:pPr algn="l" marL="342900" indent="-342900">
              <a:buAutoNum type="arabicPeriod"/>
            </a:pPr>
            <a:r>
              <a:rPr lang="ru"/>
              <a:t>Диагностика и проектирование (Q1–Q2 2025)</a:t>
            </a:r>
          </a:p>
          <a:p>
            <a:pPr algn="l" marL="342900" indent="-342900">
              <a:buAutoNum type="arabicPeriod"/>
            </a:pPr>
            <a:r>
              <a:rPr lang="ru"/>
              <a:t>Разработка и пилот (Q3 2025 – Q1 2026)</a:t>
            </a:r>
          </a:p>
          <a:p>
            <a:pPr algn="l" marL="342900" indent="-342900">
              <a:buAutoNum type="arabicPeriod"/>
            </a:pPr>
            <a:r>
              <a:rPr lang="ru"/>
              <a:t>Масштабирование (Q2–Q4 2026)</a:t>
            </a: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7"/>
          <p:cNvSpPr/>
          <p:nvPr/>
        </p:nvSpPr>
        <p:spPr>
          <a:xfrm>
            <a:off x="4624500" y="0"/>
            <a:ext cx="4535100" cy="5143500"/>
          </a:xfrm>
          <a:prstGeom prst="rect">
            <a:avLst/>
          </a:prstGeom>
          <a:solidFill>
            <a:srgbClr val="00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/>
          <p:nvPr>
            <p:ph type="title"/>
          </p:nvPr>
        </p:nvSpPr>
        <p:spPr>
          <a:xfrm>
            <a:off x="246875" y="171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Дорожная карта 2025–2026 </a:t>
            </a:r>
            <a:endParaRPr/>
          </a:p>
        </p:txBody>
      </p:sp>
      <p:cxnSp>
        <p:nvCxnSpPr>
          <p:cNvPr id="116" name="Google Shape;116;p20"/>
          <p:cNvCxnSpPr/>
          <p:nvPr/>
        </p:nvCxnSpPr>
        <p:spPr>
          <a:xfrm>
            <a:off x="302125" y="2783925"/>
            <a:ext cx="8497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7" name="Google Shape;117;p20"/>
          <p:cNvCxnSpPr/>
          <p:nvPr/>
        </p:nvCxnSpPr>
        <p:spPr>
          <a:xfrm>
            <a:off x="1123225" y="2776175"/>
            <a:ext cx="0" cy="1433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8" name="Google Shape;118;p20"/>
          <p:cNvCxnSpPr/>
          <p:nvPr/>
        </p:nvCxnSpPr>
        <p:spPr>
          <a:xfrm rot="10800000">
            <a:off x="2990050" y="1312025"/>
            <a:ext cx="0" cy="1487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9" name="Google Shape;119;p20"/>
          <p:cNvCxnSpPr/>
          <p:nvPr/>
        </p:nvCxnSpPr>
        <p:spPr>
          <a:xfrm>
            <a:off x="4732975" y="2799425"/>
            <a:ext cx="0" cy="1417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0" name="Google Shape;120;p20"/>
          <p:cNvCxnSpPr/>
          <p:nvPr/>
        </p:nvCxnSpPr>
        <p:spPr>
          <a:xfrm rot="10800000">
            <a:off x="6553325" y="1312075"/>
            <a:ext cx="0" cy="147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1" name="Google Shape;121;p20"/>
          <p:cNvCxnSpPr/>
          <p:nvPr/>
        </p:nvCxnSpPr>
        <p:spPr>
          <a:xfrm>
            <a:off x="7947650" y="2760725"/>
            <a:ext cx="0" cy="1494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2" name="Google Shape;122;p20"/>
          <p:cNvSpPr txBox="1"/>
          <p:nvPr/>
        </p:nvSpPr>
        <p:spPr>
          <a:xfrm>
            <a:off x="556850" y="434145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Q1 2025: Диагностика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3" name="Google Shape;123;p20"/>
          <p:cNvSpPr txBox="1"/>
          <p:nvPr/>
        </p:nvSpPr>
        <p:spPr>
          <a:xfrm>
            <a:off x="2128400" y="79715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Q2 2025: Проектирование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4" name="Google Shape;124;p20"/>
          <p:cNvSpPr txBox="1"/>
          <p:nvPr/>
        </p:nvSpPr>
        <p:spPr>
          <a:xfrm>
            <a:off x="3915500" y="437970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Q3 2025: MVP приложения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5" name="Google Shape;125;p20"/>
          <p:cNvSpPr txBox="1"/>
          <p:nvPr/>
        </p:nvSpPr>
        <p:spPr>
          <a:xfrm>
            <a:off x="5609500" y="797175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Q1 2026: Пилот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6" name="Google Shape;126;p20"/>
          <p:cNvSpPr txBox="1"/>
          <p:nvPr/>
        </p:nvSpPr>
        <p:spPr>
          <a:xfrm>
            <a:off x="7054100" y="437970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Q3 2026: Масштабирование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Спасибо за внимание </a:t>
            </a:r>
            <a:endParaRPr/>
          </a:p>
        </p:txBody>
      </p:sp>
      <p:sp>
        <p:nvSpPr>
          <p:cNvPr id="132" name="Google Shape;132;p2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709">
                <a:solidFill>
                  <a:schemeClr val="dk1"/>
                </a:solidFill>
              </a:rPr>
              <a:t>Готовы ответить на вопросы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