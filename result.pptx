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cbdce4d64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cbdce4d64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bdce4d647_0_2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bdce4d647_0_2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cbdce4d647_0_2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cbdce4d647_0_2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cbdce4d64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cbdce4d64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e9b845277efde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e9b845277efde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cbdce4d647_0_3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cbdce4d647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cbdce4d647_0_3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cbdce4d647_0_3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bdce4d647_0_2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bdce4d647_0_2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Будущее искусственного интеллекта в образовании</a:t>
            </a:r>
            <a:r>
              <a:rPr lang="ru"/>
              <a:t/>
            </a:r>
            <a:r>
              <a:rPr lang="ru"/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lang="ru" sz="3709">
                <a:solidFill>
                  <a:schemeClr val="dk1"/>
                </a:solidFill>
              </a:rPr>
              <a:t>Иван Иванов • 28 февраля 2026 г.</a:t>
            </a:r>
            <a:endParaRPr sz="149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Ключевые направления развития ИИ в образовании</a:t>
            </a:r>
            <a:endParaRPr/>
          </a:p>
        </p:txBody>
      </p:sp>
      <p:sp>
        <p:nvSpPr>
          <p:cNvPr id="72" name="Google Shape;72;p15"/>
          <p:cNvSpPr txBox="1"/>
          <p:nvPr>
            <p:ph idx="1" type="body"/>
          </p:nvPr>
        </p:nvSpPr>
        <p:spPr>
          <a:xfrm>
            <a:off x="3117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Адаптивные учебные пути, подстраиваемые под уровень и стиль каждого ученика</a:t>
            </a:r>
            <a:endParaRPr/>
          </a:p>
        </p:txBody>
      </p:sp>
      <p:sp>
        <p:nvSpPr>
          <p:cNvPr id="73" name="Google Shape;73;p15"/>
          <p:cNvSpPr txBox="1"/>
          <p:nvPr>
            <p:ph idx="1" type="body"/>
          </p:nvPr>
        </p:nvSpPr>
        <p:spPr>
          <a:xfrm>
            <a:off x="3117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Автоматизированная оценка и обратная связь в режиме реального времени</a:t>
            </a:r>
            <a:endParaRPr/>
          </a:p>
        </p:txBody>
      </p:sp>
      <p:sp>
        <p:nvSpPr>
          <p:cNvPr id="74" name="Google Shape;74;p15"/>
          <p:cNvSpPr txBox="1"/>
          <p:nvPr>
            <p:ph idx="1" type="body"/>
          </p:nvPr>
        </p:nvSpPr>
        <p:spPr>
          <a:xfrm>
            <a:off x="4701300" y="1446825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Интеллектуальные помощники для поддержки преподавателей в планировании и управлении классом</a:t>
            </a:r>
            <a:endParaRPr/>
          </a:p>
        </p:txBody>
      </p:sp>
      <p:sp>
        <p:nvSpPr>
          <p:cNvPr id="75" name="Google Shape;75;p15"/>
          <p:cNvSpPr txBox="1"/>
          <p:nvPr>
            <p:ph idx="1" type="body"/>
          </p:nvPr>
        </p:nvSpPr>
        <p:spPr>
          <a:xfrm>
            <a:off x="4701300" y="2625613"/>
            <a:ext cx="4088100" cy="5082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Расширенный доступ к персонализированным ресурсам через облачные платформы и виртуальную реальность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>
            <p:ph type="title"/>
          </p:nvPr>
        </p:nvSpPr>
        <p:spPr>
          <a:xfrm>
            <a:off x="246875" y="17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Этапы внедрения ИИ в образование </a:t>
            </a:r>
            <a:endParaRPr/>
          </a:p>
        </p:txBody>
      </p:sp>
      <p:cxnSp>
        <p:nvCxnSpPr>
          <p:cNvPr id="116" name="Google Shape;116;p20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7" name="Google Shape;117;p20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19" name="Google Shape;119;p20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1" name="Google Shape;121;p20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2" name="Google Shape;122;p20"/>
          <p:cNvSpPr txBox="1"/>
          <p:nvPr/>
        </p:nvSpPr>
        <p:spPr>
          <a:xfrm>
            <a:off x="556850" y="43414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2020 – Пилотные проекты адаптивного обучения в отдельных школах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3" name="Google Shape;123;p20"/>
          <p:cNvSpPr txBox="1"/>
          <p:nvPr/>
        </p:nvSpPr>
        <p:spPr>
          <a:xfrm>
            <a:off x="2128400" y="79715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2025 – Широкое внедрение персонализированных учебных платформ на базе ИИ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20"/>
          <p:cNvSpPr txBox="1"/>
          <p:nvPr/>
        </p:nvSpPr>
        <p:spPr>
          <a:xfrm>
            <a:off x="39155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2028 – Автоматизированные системы оценки и обратной связи становятся стандартом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5" name="Google Shape;125;p20"/>
          <p:cNvSpPr txBox="1"/>
          <p:nvPr/>
        </p:nvSpPr>
        <p:spPr>
          <a:xfrm>
            <a:off x="5609500" y="797175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2031 – Интеграция ИИ‑ассистентов в преподавание и управление учебным процессом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26" name="Google Shape;126;p20"/>
          <p:cNvSpPr txBox="1"/>
          <p:nvPr/>
        </p:nvSpPr>
        <p:spPr>
          <a:xfrm>
            <a:off x="7054100" y="4379700"/>
            <a:ext cx="1787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2035 – Полная экосистема AI‑образования: персонализированный путь от дошкольника до профессионала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Традиционное vs ИИ‑поддерживаемое обучение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81" name="Google Shape;81;p16"/>
          <p:cNvSpPr txBox="1"/>
          <p:nvPr>
            <p:ph idx="1" type="body"/>
          </p:nvPr>
        </p:nvSpPr>
        <p:spPr>
          <a:xfrm>
            <a:off x="226475" y="1859600"/>
            <a:ext cx="40338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Char char="•"/>
            </a:pPr>
            <a:r>
              <a:rPr lang="ru"/>
              <a:t>Учитель управляет всем процессом, от подачи материала до оценки.</a:t>
            </a:r>
          </a:p>
          <a:p>
            <a:pPr algn="l" marL="342900" indent="-342900">
              <a:buChar char="•"/>
            </a:pPr>
            <a:r>
              <a:rPr lang="ru"/>
              <a:t>Оценивание основано на субъективных критериях и ограниченной обратной связи.</a:t>
            </a:r>
          </a:p>
          <a:p>
            <a:pPr algn="l" marL="342900" indent="-342900">
              <a:buChar char="•"/>
            </a:pPr>
            <a:r>
              <a:rPr lang="ru"/>
              <a:t>Учебные материалы одинаковы для всех студентов, без учёта индивидуальных потребностей.</a:t>
            </a:r>
          </a:p>
          <a:p>
            <a:pPr algn="l" marL="342900" indent="-342900">
              <a:buChar char="•"/>
            </a:pPr>
            <a:r>
              <a:rPr lang="ru"/>
              <a:t>Ресурсы ограничены расписанием и физическим присутствием.</a:t>
            </a:r>
          </a:p>
        </p:txBody>
      </p:sp>
      <p:sp>
        <p:nvSpPr>
          <p:cNvPr id="82" name="Google Shape;82;p16"/>
          <p:cNvSpPr txBox="1"/>
          <p:nvPr/>
        </p:nvSpPr>
        <p:spPr>
          <a:xfrm>
            <a:off x="226475" y="1207813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2"/>
                </a:solidFill>
              </a:rPr>
              <a:t>Традиционное обучение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83" name="Google Shape;83;p16"/>
          <p:cNvSpPr/>
          <p:nvPr/>
        </p:nvSpPr>
        <p:spPr>
          <a:xfrm>
            <a:off x="4260300" y="1102225"/>
            <a:ext cx="4883700" cy="41025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6"/>
          <p:cNvSpPr txBox="1"/>
          <p:nvPr>
            <p:ph idx="1" type="body"/>
          </p:nvPr>
        </p:nvSpPr>
        <p:spPr>
          <a:xfrm>
            <a:off x="4462800" y="1859600"/>
            <a:ext cx="4204500" cy="27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ИИ адаптирует контент под уровень и стиль каждого ученика.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Автоматизированная оценка обеспечивает мгновенную и объективную обратную связь.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Персонализированные рекомендации расширяют глубину и темп обучения.</a:t>
            </a:r>
          </a:p>
          <a:p>
            <a:pPr algn="l" marL="342900" indent="-342900">
              <a:buChar char="•"/>
            </a:pPr>
            <a:r>
              <a:rPr lang="ru">
                <a:solidFill>
                  <a:schemeClr val="lt1"/>
                </a:solidFill>
              </a:rPr>
              <a:t>Доступ к материалам 24/7 через облачные платформы.</a:t>
            </a:r>
          </a:p>
        </p:txBody>
      </p:sp>
      <p:sp>
        <p:nvSpPr>
          <p:cNvPr id="85" name="Google Shape;85;p16"/>
          <p:cNvSpPr txBox="1"/>
          <p:nvPr/>
        </p:nvSpPr>
        <p:spPr>
          <a:xfrm>
            <a:off x="4462800" y="1302000"/>
            <a:ext cx="1954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lt1"/>
                </a:solidFill>
              </a:rPr>
              <a:t>Обучение с ИИ</a:t>
            </a:r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Влияние ИИ на образование </a:t>
            </a:r>
            <a:r>
              <a:rPr lang="ru"/>
              <a:t/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1446825"/>
            <a:ext cx="2525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Персонализация обучения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9"/>
          <p:cNvSpPr txBox="1"/>
          <p:nvPr>
            <p:ph idx="1" type="body"/>
          </p:nvPr>
        </p:nvSpPr>
        <p:spPr>
          <a:xfrm>
            <a:off x="3054100" y="1446825"/>
            <a:ext cx="2711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Автоматизированная оценка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9"/>
          <p:cNvSpPr txBox="1"/>
          <p:nvPr>
            <p:ph idx="1" type="body"/>
          </p:nvPr>
        </p:nvSpPr>
        <p:spPr>
          <a:xfrm>
            <a:off x="5982400" y="1446825"/>
            <a:ext cx="2711100" cy="3320100"/>
          </a:xfrm>
          <a:prstGeom prst="rect">
            <a:avLst/>
          </a:prstGeom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500"/>
              <a:t>Расширенный доступ к знаниям </a:t>
            </a:r>
            <a:endParaRPr sz="15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ru"/>
              <a:t> </a:t>
            </a:r>
            <a:endParaRPr/>
          </a:p>
        </p:txBody>
      </p:sp>
      <p:sp>
        <p:nvSpPr>
          <p:cNvPr id="108" name="Google Shape;108;p19"/>
          <p:cNvSpPr txBox="1"/>
          <p:nvPr/>
        </p:nvSpPr>
        <p:spPr>
          <a:xfrm>
            <a:off x="418925" y="2156250"/>
            <a:ext cx="300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ИИ адаптирует материалы под уровень и стиль каждого ученика, повышая эффективность обучения. </a:t>
            </a:r>
            <a:endParaRPr/>
          </a:p>
        </p:txBody>
      </p:sp>
      <p:sp>
        <p:nvSpPr>
          <p:cNvPr id="109" name="Google Shape;109;p19"/>
          <p:cNvSpPr txBox="1"/>
          <p:nvPr/>
        </p:nvSpPr>
        <p:spPr>
          <a:xfrm>
            <a:off x="3215125" y="21141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Системы ИИ автоматически проверяют задания и дают мгновенную обратную связь, освобождая время преподавателей. </a:t>
            </a:r>
            <a:endParaRPr/>
          </a:p>
        </p:txBody>
      </p:sp>
      <p:sp>
        <p:nvSpPr>
          <p:cNvPr id="110" name="Google Shape;110;p19"/>
          <p:cNvSpPr txBox="1"/>
          <p:nvPr/>
        </p:nvSpPr>
        <p:spPr>
          <a:xfrm>
            <a:off x="6184200" y="2072050"/>
            <a:ext cx="2096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ru" sz="1500">
                <a:solidFill>
                  <a:schemeClr val="dk2"/>
                </a:solidFill>
              </a:rPr>
              <a:t>Онлайн‑платформы с ИИ позволяют учиться в любой точке мира, устраняя географические и финансовые барьеры.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/>
          <p:nvPr>
            <p:ph type="title"/>
          </p:nvPr>
        </p:nvSpPr>
        <p:spPr>
          <a:xfrm>
            <a:off x="-1373950" y="164075"/>
            <a:ext cx="6425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Этические и педагогические вопросы ИИ в образовании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ru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7"/>
          <p:cNvSpPr txBox="1"/>
          <p:nvPr>
            <p:ph idx="1" type="body"/>
          </p:nvPr>
        </p:nvSpPr>
        <p:spPr>
          <a:xfrm>
            <a:off x="311700" y="957975"/>
            <a:ext cx="4312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algn="l">
              <a:buNone/>
            </a:pPr>
            <a:r>
              <a:rPr lang="ru"/>
              <a:t>Внедрение ИИ меняет роль учителя и требует новых подходов к ответственности.</a:t>
            </a:r>
          </a:p>
          <a:p>
            <a:pPr algn="l" marL="342900" indent="-342900">
              <a:buChar char="•"/>
            </a:pPr>
            <a:r>
              <a:rPr lang="ru"/>
              <a:t>Конфиденциальность данных учащихся: обеспечить безопасное хранение и прозрачность алгоритмов.</a:t>
            </a:r>
          </a:p>
          <a:p>
            <a:pPr algn="l" marL="342900" indent="-342900">
              <a:buChar char="•"/>
            </a:pPr>
            <a:r>
              <a:rPr lang="ru"/>
              <a:t>Справедливость алгоритмических решений: избежать дискриминации и обеспечить равный доступ к ресурсам.</a:t>
            </a:r>
          </a:p>
          <a:p>
            <a:pPr algn="l" marL="342900" indent="-342900">
              <a:buChar char="•"/>
            </a:pPr>
            <a:r>
              <a:rPr lang="ru"/>
              <a:t>Педагогическая автономия: балансировать автоматизацию с творческой ролью преподавателя.</a:t>
            </a:r>
          </a:p>
          <a:p>
            <a:pPr algn="l" marL="342900" indent="-342900">
              <a:buChar char="•"/>
            </a:pPr>
            <a:r>
              <a:rPr lang="ru"/>
              <a:t>Этическое обучение ИИ: включать принципы ответственности и критического мышления в учебные программы.</a:t>
            </a: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7"/>
          <p:cNvSpPr/>
          <p:nvPr/>
        </p:nvSpPr>
        <p:spPr>
          <a:xfrm>
            <a:off x="4624500" y="0"/>
            <a:ext cx="4535100" cy="51435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Искусственный интеллект в образовании: путь вперёд </a:t>
            </a:r>
            <a:endParaRPr/>
          </a:p>
        </p:txBody>
      </p:sp>
      <p:sp>
        <p:nvSpPr>
          <p:cNvPr id="132" name="Google Shape;132;p2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709">
                <a:solidFill>
                  <a:schemeClr val="dk1"/>
                </a:solidFill>
              </a:rPr>
              <a:t>Свяжитесь с нами: info@ai-edu.org | +7 123 456 78 90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