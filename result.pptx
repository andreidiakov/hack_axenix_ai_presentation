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1"/>
    <p:restoredTop sz="94663"/>
  </p:normalViewPr>
  <p:slideViewPr>
    <p:cSldViewPr snapToGrid="0" snapToObjects="1">
      <p:cViewPr varScale="1">
        <p:scale>
          <a:sx n="156" d="100"/>
          <a:sy n="156" d="100"/>
        </p:scale>
        <p:origin x="4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3A7C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743200"/>
            <a:ext cx="8869680" cy="38100"/>
          </a:xfrm>
          <a:prstGeom prst="rect">
            <a:avLst/>
          </a:prstGeom>
          <a:solidFill>
            <a:srgbClr val="E8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800" b="1" i="0" dirty="0" err="1">
                <a:solidFill>
                  <a:srgbClr val="FFFFFF"/>
                </a:solidFill>
              </a:rPr>
              <a:t>Цифровая трансформация банка</a:t>
            </a:r>
            <a:r>
              <a:rPr lang="en-US" sz="3800" b="1" i="0" dirty="0">
                <a:solidFill>
                  <a:srgbClr val="FFFFFF"/>
                </a:solidFill>
              </a:rPr>
              <a:t/>
            </a:r>
            <a:endParaRPr sz="3800" b="1" i="0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B84B"/>
                </a:solidFill>
              </a:rPr>
              <a:t>{{SUBЦифровая трансформация банка}}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490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7A9A"/>
                </a:solidFill>
              </a:rPr>
              <a:t>Март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37490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A7A9A"/>
                </a:solidFill>
              </a:rPr>
              <a:t>Команда стратегического развития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4754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7A9A"/>
                </a:solidFill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38100"/>
          </a:xfrm>
          <a:prstGeom prst="rect">
            <a:avLst/>
          </a:prstGeom>
          <a:solidFill>
            <a:srgbClr val="3A7C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Текущее состояние рынка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A7A9A"/>
                </a:solidFill>
              </a:rPr>
              <a:t>Рынок цифрового банкинга показывает устойчивый рост третий год подряд.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64792"/>
            <a:ext cx="73152" cy="73152"/>
          </a:xfrm>
          <a:prstGeom prst="rect">
            <a:avLst/>
          </a:prstGeom>
          <a:solidFill>
            <a:srgbClr val="E8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600200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8E8FF"/>
                </a:solidFill>
              </a:rPr>
              <a:t>Проникновение мобильного банкинга достигло 67% среди активных клиентов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23160"/>
            <a:ext cx="73152" cy="73152"/>
          </a:xfrm>
          <a:prstGeom prst="rect">
            <a:avLst/>
          </a:prstGeom>
          <a:solidFill>
            <a:srgbClr val="E8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2258568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8E8FF"/>
                </a:solidFill>
              </a:rPr>
              <a:t>Объём онлайн-транзакций вырос на 41% год к году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81528"/>
            <a:ext cx="73152" cy="73152"/>
          </a:xfrm>
          <a:prstGeom prst="rect">
            <a:avLst/>
          </a:prstGeom>
          <a:solidFill>
            <a:srgbClr val="E8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2916936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8E8FF"/>
                </a:solidFill>
              </a:rPr>
              <a:t>Доля необанков среди новых клиентов составила 28%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39896"/>
            <a:ext cx="73152" cy="73152"/>
          </a:xfrm>
          <a:prstGeom prst="rect">
            <a:avLst/>
          </a:prstGeom>
          <a:solidFill>
            <a:srgbClr val="E8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3575304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8E8FF"/>
                </a:solidFill>
              </a:rPr>
              <a:t>Средний NPS цифровых банков превышает традиционные на 18 пунктов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754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7A9A"/>
                </a:solidFill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38100"/>
          </a:xfrm>
          <a:prstGeom prst="rect">
            <a:avLst/>
          </a:prstGeom>
          <a:solidFill>
            <a:srgbClr val="3A7C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Сильные стороны и зоны роста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914400"/>
            <a:ext cx="38100" cy="3977639"/>
          </a:xfrm>
          <a:prstGeom prst="rect">
            <a:avLst/>
          </a:prstGeom>
          <a:solidFill>
            <a:srgbClr val="3A7C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B84B"/>
                </a:solidFill>
              </a:rPr>
              <a:t>Сильные стороны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08760"/>
            <a:ext cx="3840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Char char="•"/>
            </a:pPr>
            <a:r>
              <a:rPr sz="1300" b="0" i="0">
                <a:solidFill>
                  <a:srgbClr val="D8E8FF"/>
                </a:solidFill>
              </a:rPr>
              <a:t>Развитая региональная сеть (340 отделений)</a:t>
            </a:r>
          </a:p>
          <a:p>
            <a:pPr algn="l" marL="342900" indent="-342900">
              <a:buChar char="•"/>
            </a:pPr>
            <a:r>
              <a:rPr sz="1300" b="0" i="0">
                <a:solidFill>
                  <a:srgbClr val="D8E8FF"/>
                </a:solidFill>
              </a:rPr>
              <a:t>Высокий уровень доверия клиентов (NPS 62)</a:t>
            </a:r>
          </a:p>
          <a:p>
            <a:pPr algn="l" marL="342900" indent="-342900">
              <a:buChar char="•"/>
            </a:pPr>
            <a:r>
              <a:rPr sz="1300" b="0" i="0">
                <a:solidFill>
                  <a:srgbClr val="D8E8FF"/>
                </a:solidFill>
              </a:rPr>
              <a:t>Лицензии и регуляторный опыт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9144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B84B"/>
                </a:solidFill>
              </a:rPr>
              <a:t>Зоны роста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508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AutoNum type="arabicPeriod"/>
            </a:pPr>
            <a:r>
              <a:rPr sz="1300" b="0" i="0">
                <a:solidFill>
                  <a:srgbClr val="D8E8FF"/>
                </a:solidFill>
              </a:rPr>
              <a:t>UX мобильного приложения — устарел на 3 года</a:t>
            </a:r>
          </a:p>
          <a:p>
            <a:pPr algn="l" marL="342900" indent="-342900">
              <a:buAutoNum type="arabicPeriod"/>
            </a:pPr>
            <a:r>
              <a:rPr sz="1300" b="0" i="0">
                <a:solidFill>
                  <a:srgbClr val="D8E8FF"/>
                </a:solidFill>
              </a:rPr>
              <a:t>Скорость онбординга: 5 дней vs 15 минут у конкурентов</a:t>
            </a:r>
          </a:p>
          <a:p>
            <a:pPr algn="l" marL="342900" indent="-342900">
              <a:buAutoNum type="arabicPeriod"/>
            </a:pPr>
            <a:r>
              <a:rPr sz="1300" b="0" i="0">
                <a:solidFill>
                  <a:srgbClr val="D8E8FF"/>
                </a:solidFill>
              </a:rPr>
              <a:t>Персонализация продуктового предложения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754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7A9A"/>
                </a:solidFill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38100"/>
          </a:xfrm>
          <a:prstGeom prst="rect">
            <a:avLst/>
          </a:prstGeom>
          <a:solidFill>
            <a:srgbClr val="3A7C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Ожидаемый эффект от трансформации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7315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>
                <a:solidFill>
                  <a:srgbClr val="E8B84B"/>
                </a:solidFill>
              </a:rPr>
              <a:t>₽2.3 млрд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5A7A9A"/>
                </a:solidFill>
              </a:rPr>
              <a:t>прогнозируемый экономический эффект к 2027 году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886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A7A9A"/>
                </a:solidFill>
              </a:rPr>
              <a:t>По данным McKinsey, аналогичные программы дают ROI 180–220% за 3 года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4754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7A9A"/>
                </a:solidFill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201168"/>
          </a:xfrm>
          <a:prstGeom prst="rect">
            <a:avLst/>
          </a:prstGeom>
          <a:solidFill>
            <a:srgbClr val="E8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E8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Спасибо 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8B84B"/>
                </a:solidFill>
              </a:rPr>
              <a:t>Готовы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A7A9A"/>
                </a:solidFill>
              </a:rPr>
              <a:t>strategy@bank.ru  |  +7 (495) 000-00-00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754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7A9A"/>
                </a:solidFill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122</Words>
  <Application>Microsoft Macintosh PowerPoint</Application>
  <PresentationFormat>Экран (16:9)</PresentationFormat>
  <Paragraphs>31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Andrew Diakov</cp:lastModifiedBy>
  <cp:revision>2</cp:revision>
  <dcterms:created xsi:type="dcterms:W3CDTF">2013-01-27T09:14:16Z</dcterms:created>
  <dcterms:modified xsi:type="dcterms:W3CDTF">2026-02-28T11:33:19Z</dcterms:modified>
  <cp:category/>
</cp:coreProperties>
</file>